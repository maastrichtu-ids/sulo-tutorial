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88952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Clinical Ontology Engineering with SULO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D6EAF8"/>
                </a:solidFill>
              </a:rPr>
              <a:t>A Hands-On Tutorial — Mary's Clinical Odyssey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6EAF8"/>
                </a:solidFill>
              </a:rPr>
              <a:t>Medical Informatics Europe (MIE)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ACCEE"/>
                </a:solidFill>
              </a:rPr>
              <a:t>Michel Dumontier  ·  Remzi Celebi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AACC"/>
                </a:solidFill>
              </a:rPr>
              <a:t>Institute of Data Science, Maastricht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E0E0E0"/>
                </a:solidFill>
              </a:rPr>
              <a:t>From clinical timeline to FAIR-published ontology, using only SULO + PRO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AF8"/>
                </a:solidFill>
              </a:rPr>
              <a:t>Clinical ontology engineering,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566160" cy="50292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1371600"/>
            <a:ext cx="3566160" cy="50292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0" y="1371600"/>
            <a:ext cx="3931920" cy="50292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06AA8"/>
                </a:solidFill>
              </a:rPr>
              <a:t>⚠  Modelling Conflations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Hundreds of overlapping
participation properties
(hasPerformer, hasSubject…)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Diseases, tumours, and findings
conflated into single classes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Statement, disease, and act
of diagnosis confused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Quantities modelled as
bare numeric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46304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06AA8"/>
                </a:solidFill>
              </a:rPr>
              <a:t>⚠  Unresolved Patterns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How to refer to a process
that hasn't happened yet?
(prescriptions → administrations)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How to anchor a measurement
to a patient over time?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When is parthood the wrong
relation for anatomy?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How to merge views from
two EHR systems?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46304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06AA8"/>
                </a:solidFill>
              </a:rPr>
              <a:t>⚠  FAIR &amp; Training Gap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Ontologies rarely come with
version IRIs, licenses, or
proper metadata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Few tutorials connect
modelling → reasoning →
publishing end-to-end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No practical template for
FAIR clinical ontology
projects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Upper-level ontologies are
under-used in clinical
informatics teaching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Goals of the Tutorial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577840" cy="49377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577840" cy="4937760"/>
          </a:xfrm>
          <a:prstGeom prst="rect">
            <a:avLst/>
          </a:prstGeom>
          <a:solidFill>
            <a:srgbClr val="E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6AA8"/>
                </a:solidFill>
              </a:rPr>
              <a:t>🩺  Domain modelling with SULO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2C2C"/>
                </a:solidFill>
              </a:rPr>
              <a:t>▸ Demonstrate that SULO's vocabulary
is sufficient for clinical modelling —
no new properties required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2C2C"/>
                </a:solidFill>
              </a:rPr>
              <a:t>▸ Teach the SULO design patterns:
PRO, SOLID, Collection/hasItem,
the diagnosis triangle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2C2C"/>
                </a:solidFill>
              </a:rPr>
              <a:t>▸ Translate clinical reality into OWL
axioms that the reasoner can use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2C2C"/>
                </a:solidFill>
              </a:rPr>
              <a:t>▸ Apply automated classification
to recover clinically meaningful
statements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8A8E"/>
                </a:solidFill>
              </a:rPr>
              <a:t>🌍  FAIR publishing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2C2C"/>
                </a:solidFill>
              </a:rPr>
              <a:t>▸ Set version IRIs and a complete
metadata footprint (dc, vann,
pav, dcat, foaf, schema, mod)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2C2C"/>
                </a:solidFill>
              </a:rPr>
              <a:t>▸ Export to multiple serialisations
(RDF/XML, Turtle), OWL 2 DL-clean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2C2C"/>
                </a:solidFill>
              </a:rPr>
              <a:t>▸ Run a FAIRness self-check and
submit to FOOPS! for the
authoritative report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2C2C"/>
                </a:solidFill>
              </a:rPr>
              <a:t>▸ Walk away with a publishable
clinical-modelling ontology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AF8"/>
                </a:solidFill>
              </a:rPr>
              <a:t>What attendees will be able to do by the end of the half-day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500">
                <a:solidFill>
                  <a:srgbClr val="2C2C2C"/>
                </a:solidFill>
              </a:rPr>
              <a:t>▸ Classify clinical entities under SULO's top-level categories
(Process, SpatialObject, Quality, Quantity, Role, InformationObject, Time, Unit, Collection)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2C2C"/>
                </a:solidFill>
              </a:rPr>
              <a:t>▸ Apply the Process-Role-Object (PRO) pattern to model procedural participation
without inventing new object properties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2C2C"/>
                </a:solidFill>
              </a:rPr>
              <a:t>▸ Distinguish persistent roles from event-bound roles in real clinical data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2C2C"/>
                </a:solidFill>
              </a:rPr>
              <a:t>▸ Use the SOLID pattern to model numeric clinical measurements with units and thresholds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2C2C"/>
                </a:solidFill>
              </a:rPr>
              <a:t>▸ Express anatomy as composition using AllDisjoint and the split-definition pattern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2C2C"/>
                </a:solidFill>
              </a:rPr>
              <a:t>▸ Distinguish a disease (Process), the tumour (SpatialObject), and the diagnosis statement (InformationObject)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2C2C"/>
                </a:solidFill>
              </a:rPr>
              <a:t>▸ Refer to not-yet-instantiated processes via the Collection / hasItem pattern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2C2C"/>
                </a:solidFill>
              </a:rPr>
              <a:t>▸ Query the ontology with SPARQL — property paths, multi-hop joins, COUNT DISTINCT, sameAs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2C2C"/>
                </a:solidFill>
              </a:rPr>
              <a:t>▸ Add FAIR metadata, version IRIs, and submit to FOOPS! for an external assessment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Running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AF8"/>
                </a:solidFill>
              </a:rPr>
              <a:t>Mary, 52 — breast cancer journey, Feb–Sep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338560" cy="73152"/>
          </a:xfrm>
          <a:prstGeom prst="rect">
            <a:avLst/>
          </a:prstGeom>
          <a:solidFill>
            <a:srgbClr val="20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30352" y="1691640"/>
            <a:ext cx="219456" cy="219456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280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C2C2C"/>
                </a:solidFill>
              </a:rPr>
              <a:t>Feb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37160" y="20574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Routine
visit + BP</a:t>
            </a:r>
          </a:p>
        </p:txBody>
      </p:sp>
      <p:sp>
        <p:nvSpPr>
          <p:cNvPr id="10" name="Oval 9"/>
          <p:cNvSpPr/>
          <p:nvPr/>
        </p:nvSpPr>
        <p:spPr>
          <a:xfrm>
            <a:off x="1901952" y="1691640"/>
            <a:ext cx="219456" cy="219456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280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C2C2C"/>
                </a:solidFill>
              </a:rPr>
              <a:t>Feb 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0574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Ultrasound</a:t>
            </a:r>
          </a:p>
        </p:txBody>
      </p:sp>
      <p:sp>
        <p:nvSpPr>
          <p:cNvPr id="13" name="Oval 12"/>
          <p:cNvSpPr/>
          <p:nvPr/>
        </p:nvSpPr>
        <p:spPr>
          <a:xfrm>
            <a:off x="3273552" y="1691640"/>
            <a:ext cx="219456" cy="219456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280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C2C2C"/>
                </a:solidFill>
              </a:rPr>
              <a:t>Feb 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0574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Preliminary
diagnosis</a:t>
            </a:r>
          </a:p>
        </p:txBody>
      </p:sp>
      <p:sp>
        <p:nvSpPr>
          <p:cNvPr id="16" name="Oval 15"/>
          <p:cNvSpPr/>
          <p:nvPr/>
        </p:nvSpPr>
        <p:spPr>
          <a:xfrm>
            <a:off x="4645152" y="1691640"/>
            <a:ext cx="219456" cy="219456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1280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C2C2C"/>
                </a:solidFill>
              </a:rPr>
              <a:t>Feb 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40" y="20574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7E22"/>
                </a:solidFill>
              </a:rPr>
              <a:t>Biopsy</a:t>
            </a:r>
          </a:p>
        </p:txBody>
      </p:sp>
      <p:sp>
        <p:nvSpPr>
          <p:cNvPr id="19" name="Oval 18"/>
          <p:cNvSpPr/>
          <p:nvPr/>
        </p:nvSpPr>
        <p:spPr>
          <a:xfrm>
            <a:off x="6016752" y="1691640"/>
            <a:ext cx="219456" cy="219456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1280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C2C2C"/>
                </a:solidFill>
              </a:rPr>
              <a:t>Mar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0574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7E22"/>
                </a:solidFill>
              </a:rPr>
              <a:t>Histopathology +
confirmed dx</a:t>
            </a:r>
          </a:p>
        </p:txBody>
      </p:sp>
      <p:sp>
        <p:nvSpPr>
          <p:cNvPr id="22" name="Oval 21"/>
          <p:cNvSpPr/>
          <p:nvPr/>
        </p:nvSpPr>
        <p:spPr>
          <a:xfrm>
            <a:off x="7388352" y="1691640"/>
            <a:ext cx="219456" cy="219456"/>
          </a:xfrm>
          <a:prstGeom prst="ellipse">
            <a:avLst/>
          </a:prstGeom>
          <a:solidFill>
            <a:srgbClr val="168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1280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C2C2C"/>
                </a:solidFill>
              </a:rPr>
              <a:t>Mar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0574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68A8E"/>
                </a:solidFill>
              </a:rPr>
              <a:t>Chemotherapy
starts</a:t>
            </a:r>
          </a:p>
        </p:txBody>
      </p:sp>
      <p:sp>
        <p:nvSpPr>
          <p:cNvPr id="25" name="Oval 24"/>
          <p:cNvSpPr/>
          <p:nvPr/>
        </p:nvSpPr>
        <p:spPr>
          <a:xfrm>
            <a:off x="8759952" y="1691640"/>
            <a:ext cx="219456" cy="219456"/>
          </a:xfrm>
          <a:prstGeom prst="ellipse">
            <a:avLst/>
          </a:prstGeom>
          <a:solidFill>
            <a:srgbClr val="168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280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C2C2C"/>
                </a:solidFill>
              </a:rPr>
              <a:t>Jun 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0574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68A8E"/>
                </a:solidFill>
              </a:rPr>
              <a:t>Chemo
ends</a:t>
            </a:r>
          </a:p>
        </p:txBody>
      </p:sp>
      <p:sp>
        <p:nvSpPr>
          <p:cNvPr id="28" name="Oval 27"/>
          <p:cNvSpPr/>
          <p:nvPr/>
        </p:nvSpPr>
        <p:spPr>
          <a:xfrm>
            <a:off x="10131552" y="1691640"/>
            <a:ext cx="219456" cy="219456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1280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C2C2C"/>
                </a:solidFill>
              </a:rPr>
              <a:t>Jul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20574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7E22"/>
                </a:solidFill>
              </a:rPr>
              <a:t>Lumpectomy</a:t>
            </a:r>
          </a:p>
        </p:txBody>
      </p:sp>
      <p:sp>
        <p:nvSpPr>
          <p:cNvPr id="31" name="Oval 30"/>
          <p:cNvSpPr/>
          <p:nvPr/>
        </p:nvSpPr>
        <p:spPr>
          <a:xfrm>
            <a:off x="11503152" y="1691640"/>
            <a:ext cx="219456" cy="219456"/>
          </a:xfrm>
          <a:prstGeom prst="ellipse">
            <a:avLst/>
          </a:prstGeom>
          <a:solidFill>
            <a:srgbClr val="20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0" y="1280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C2C2C"/>
                </a:solidFill>
              </a:rPr>
              <a:t>Sep 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20574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06AA8"/>
                </a:solidFill>
              </a:rPr>
              <a:t>Follow-up
(remission)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108960"/>
            <a:ext cx="3657600" cy="3200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97680" y="3108960"/>
            <a:ext cx="3657600" cy="3200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3108960"/>
            <a:ext cx="3657600" cy="3200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246120"/>
            <a:ext cx="3474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06AA8"/>
                </a:solidFill>
              </a:rPr>
              <a:t>One patient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Nine clinical events on one timeline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Two clinicians (radiologist Miller,
gynecologist Smith)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One anatomical site (left breast)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One disease (invasive carcinoma)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Four chemo administrations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3246120"/>
            <a:ext cx="3474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06AA8"/>
                </a:solidFill>
              </a:rPr>
              <a:t>One rich record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Numeric features (BP measurements)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Categorical features (tumour grade,
receptor status)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Information entities (diagnosis
statements, prescription)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Cross-system identity (FHIR Patient
resource via owl:sameAs)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246120"/>
            <a:ext cx="3474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06AA8"/>
                </a:solidFill>
              </a:rPr>
              <a:t>One pedagogic principle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Each event lands a specific SULO
category and OWL construct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Each new construct produces a
reasoner-derived classification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No design pattern is rehearsed —
every scene teaches a new lesson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Builds incrementally:
NB1 → … → NB7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AF8"/>
                </a:solidFill>
              </a:rPr>
              <a:t>How each notebook is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06AA8"/>
                </a:solidFill>
              </a:rPr>
              <a:t>The anchor pattern (per notebook)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5760720" cy="640080"/>
          </a:xfrm>
          <a:prstGeom prst="rect">
            <a:avLst/>
          </a:prstGeom>
          <a:solidFill>
            <a:srgbClr val="FDE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①  Clinical scene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574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Pick a dated event from Mary's odyssey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5760720" cy="640080"/>
          </a:xfrm>
          <a:prstGeom prst="rect">
            <a:avLst/>
          </a:prstGeom>
          <a:solidFill>
            <a:srgbClr val="FDE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163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②  Identify the construct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8346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What SULO category + OWL feature does this scene need?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20440"/>
            <a:ext cx="5760720" cy="640080"/>
          </a:xfrm>
          <a:prstGeom prst="rect">
            <a:avLst/>
          </a:prstGeom>
          <a:solidFill>
            <a:srgbClr val="FDE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935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③  Declare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6118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T-Box restrictions + A-Box assertions, using only SULO properties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97680"/>
            <a:ext cx="5760720" cy="640080"/>
          </a:xfrm>
          <a:prstGeom prst="rect">
            <a:avLst/>
          </a:prstGeom>
          <a:solidFill>
            <a:srgbClr val="FDE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708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④  Run the reasoner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3891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HermiT consistency check + classification of defined classes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74920"/>
            <a:ext cx="5760720" cy="640080"/>
          </a:xfrm>
          <a:prstGeom prst="rect">
            <a:avLst/>
          </a:prstGeom>
          <a:solidFill>
            <a:srgbClr val="FDE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1480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⑤  Verify with SPARQL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516636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Query for the inferred answer — the lesson has landed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1417320"/>
            <a:ext cx="5212080" cy="50292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5544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6AA8"/>
                </a:solidFill>
              </a:rPr>
              <a:t>The SULO discipline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Zero new object properties added
to the MIE ontology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Zero new data properties added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Every relation is sulo:* or owl:*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New domain content arrives as
new classes — not new predicates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Domain growth stays aligned with
the upper-level ontology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88620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6AA8"/>
                </a:solidFill>
              </a:rPr>
              <a:t>Compared to neighbouring tutorials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Pizza tutorial — same SULO basis,
culinary domain, less role-heavy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SWAT4HCLS clinical tutorial —
A-Box only, no T-Box restrictions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OBI / OGMS — heavyweight, axiom-
sparse, complex import chains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MIE — axiom-rich, A-Box rich,
pure SULO, classification per scene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Tutorial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AF8"/>
                </a:solidFill>
              </a:rPr>
              <a:t>Seven Jupyter notebooks, ~190 min 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777240" cy="685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1417320"/>
            <a:ext cx="10607040" cy="6858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819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NB1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4630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</a:rPr>
              <a:t>Processes, parts, time, ordering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7647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Process, Time | SubClass, cardinality, SPARQL +/*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15819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3A5C"/>
                </a:solidFill>
              </a:rPr>
              <a:t>40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48840"/>
            <a:ext cx="777240" cy="685800"/>
          </a:xfrm>
          <a:prstGeom prst="rect">
            <a:avLst/>
          </a:prstGeom>
          <a:solidFill>
            <a:srgbClr val="20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88720" y="2148840"/>
            <a:ext cx="10607040" cy="6858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31343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NB2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1945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</a:rPr>
              <a:t>Roles &amp; the PRO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4963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Role | Nested existentials, defined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3134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06AA8"/>
                </a:solidFill>
              </a:rPr>
              <a:t>30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880360"/>
            <a:ext cx="777240" cy="685800"/>
          </a:xfrm>
          <a:prstGeom prst="rect">
            <a:avLst/>
          </a:prstGeom>
          <a:solidFill>
            <a:srgbClr val="168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88720" y="2880360"/>
            <a:ext cx="10607040" cy="6858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04495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NB3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29260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</a:rPr>
              <a:t>Spatial objects &amp; their parts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2278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SpatialObject | AllDisjoint, only, split definition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0449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8A8E"/>
                </a:solidFill>
              </a:rPr>
              <a:t>25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611880"/>
            <a:ext cx="777240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88720" y="3611880"/>
            <a:ext cx="10607040" cy="6858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77647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NB4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6576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</a:rPr>
              <a:t>Qualities, quantities, thresholds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9593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Quality, Quantity, Unit | ConstrainedDatatype, union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776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67E22"/>
                </a:solidFill>
              </a:rPr>
              <a:t>30 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343400"/>
            <a:ext cx="777240" cy="685800"/>
          </a:xfrm>
          <a:prstGeom prst="rect">
            <a:avLst/>
          </a:prstGeom>
          <a:solidFill>
            <a:srgbClr val="8B3E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88720" y="4343400"/>
            <a:ext cx="10607040" cy="6858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50799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NB5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3891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</a:rPr>
              <a:t>Connections (containment, info, identity)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46908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InformationObject, Collection | value restriction, AllDifferent, sameAs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45079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8B3EA1"/>
                </a:solidFill>
              </a:rPr>
              <a:t>30 min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074920"/>
            <a:ext cx="777240" cy="685800"/>
          </a:xfrm>
          <a:prstGeom prst="rect">
            <a:avLst/>
          </a:prstGeom>
          <a:solidFill>
            <a:srgbClr val="20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88720" y="5074920"/>
            <a:ext cx="10607040" cy="6858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2395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NB6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5880" y="51206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</a:rPr>
              <a:t>Reasoning &amp; SPARQL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54223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(queries only) | property paths, UNION, COUNT DISTINCT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52395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06AA8"/>
                </a:solidFill>
              </a:rPr>
              <a:t>20 min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806440"/>
            <a:ext cx="777240" cy="685800"/>
          </a:xfrm>
          <a:prstGeom prst="rect">
            <a:avLst/>
          </a:prstGeom>
          <a:solidFill>
            <a:srgbClr val="168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88720" y="5806440"/>
            <a:ext cx="10607040" cy="6858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597103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NB7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58521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</a:rPr>
              <a:t>FAIR publishing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5880" y="61539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(packaging) | versionIRI, dc/dcterms/vann/pav/dcat/mod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59710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8A8E"/>
                </a:solidFill>
              </a:rPr>
              <a:t>15 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AF8"/>
                </a:solidFill>
              </a:rPr>
              <a:t>SULO + PRO + the design patterns we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749039" cy="50292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97680" y="1371600"/>
            <a:ext cx="3749039" cy="5029200"/>
          </a:xfrm>
          <a:prstGeom prst="rect">
            <a:avLst/>
          </a:prstGeom>
          <a:solidFill>
            <a:srgbClr val="E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371600"/>
            <a:ext cx="3566160" cy="5029200"/>
          </a:xfrm>
          <a:prstGeom prst="rect">
            <a:avLst/>
          </a:prstGeom>
          <a:solidFill>
            <a:srgbClr val="FDE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3474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6AA8"/>
                </a:solidFill>
              </a:rPr>
              <a:t>SULO upper-level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Process, SpatialObject,
Quality, Quantity, Unit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Role, Feature
(via PRO sub-classes)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InformationObject, Collection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Time, TimeInstant,
StartTime, EndTime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→  hasPart, hasDirectPart,
hasParticipant, hasFeature,
refersTo, atTime, isIn,
hasValue, hasItem, precedes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508760"/>
            <a:ext cx="3474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8A8E"/>
                </a:solidFill>
              </a:rPr>
              <a:t>PRO extension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TransformationProcess vs
DevelopmentalProcess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AgentRole, PatientRole,
InstrumentRole, LocationRole,
EmergingRole, ConsumedRole,
DevelopmentRole, PersistingRole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→  Reifies participation
through roles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→  Adds classes, not
properties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→  Used in NB2; reused
everywhere thereafter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50876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7E22"/>
                </a:solidFill>
              </a:rPr>
              <a:t>Design patterns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PRO  (NB2)
  Process-Role-Object
  participation pattern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SOLID  (NB4)
  Single Object Literal
  Information Datum —
  Quantity + Unit + hasValue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Collection / hasItem  (NB5)
  Reference to not-yet-
  instantiated processes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Diagnosis triangle  (NB5)
  Process / Statement /
  Assessment distinction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Split definition  (NB3)
  Existentials drive
  classification;
  cardinality + universals
  constrain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OWL Constructs 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AF8"/>
                </a:solidFill>
              </a:rPr>
              <a:t>~25 distinct constructs, each anchored to a clinical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788920" cy="50292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37560" y="1417320"/>
            <a:ext cx="2788920" cy="50292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417320"/>
            <a:ext cx="2788920" cy="50292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1160" y="1417320"/>
            <a:ext cx="2542032" cy="50292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2560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06AA8"/>
                </a:solidFill>
              </a:rPr>
              <a:t>Structural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Class declaration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SubClassOf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Multiple typing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owl:imports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Named individuals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AnnotationProperty
declaration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rdfs:label @en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rdfs:comment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554480"/>
            <a:ext cx="2560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06AA8"/>
                </a:solidFill>
              </a:rPr>
              <a:t>Class expressions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Existential  some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Universal  only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Intersection  ⊓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Union  ⊔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Value  hasFeature value …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Cardinality  exactly / max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Nested existentials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ConstrainedDatatype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2560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06AA8"/>
                </a:solidFill>
              </a:rPr>
              <a:t>Axioms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EquivalentClasses
(defined class)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AllDisjoint (classes)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AllDifferent (individuals)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owl:sameAs (individuals)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TransitiveProperty
(inherited)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FunctionalProperty
(inherited)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owl:versionIRI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554480"/>
            <a:ext cx="2377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06AA8"/>
                </a:solidFill>
              </a:rPr>
              <a:t>SPARQL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Property path  +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Property path  *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Parameter substitution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COUNT(DISTINCT …)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UNION (symmetric
sameAs traversal)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Multi-hop joins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Type filtering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ORDER BY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AF8"/>
                </a:solidFill>
              </a:rPr>
              <a:t>What each attendee walks away with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669280" cy="50292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6AA8"/>
                </a:solidFill>
              </a:rPr>
              <a:t>Deliverable artefacts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An executable Jupyter notebook
series (~190 min content)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dist/mie.owl  (RDF/XML, OWL 2 DL-clean)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dist/mie.ttl  (Turtle)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48 classes, 66 individuals,
zero local object/data properties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Reasoner-validated under HermiT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FAIRness self-check: 12 / 12 indicators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FOOPS! external assessment
(network permitting)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5577840" cy="5029200"/>
          </a:xfrm>
          <a:prstGeom prst="rect">
            <a:avLst/>
          </a:prstGeom>
          <a:solidFill>
            <a:srgbClr val="E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8A8E"/>
                </a:solidFill>
              </a:rPr>
              <a:t>Transferable skills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Fluent in SULO's top-level
categories and properties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Confident with the PRO and
SOLID design patterns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Can write OWL class expressions
that drive classification under OWA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Can query an ontology with
SPARQL 1.1 property paths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Can package an OWL ontology
for FAIR publishing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2C2C"/>
                </a:solidFill>
              </a:rPr>
              <a:t>▸ Can read a FOOPS! report and
close the gaps it identifies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AF8"/>
                </a:solidFill>
              </a:rPr>
              <a:t>Half-day tutorial — 4 hours including intro, break, and 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86868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0:00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371600"/>
            <a:ext cx="8229600" cy="41148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1444752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Welcome + tutorial overview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46920" y="1371600"/>
            <a:ext cx="2103120" cy="41148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38360" y="14447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15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86868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0195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0:15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1828800"/>
            <a:ext cx="8229600" cy="41148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1901952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SULO postcard tour &amp; environment setup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46920" y="1828800"/>
            <a:ext cx="2103120" cy="41148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8360" y="19019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10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86000"/>
            <a:ext cx="868680" cy="411480"/>
          </a:xfrm>
          <a:prstGeom prst="rect">
            <a:avLst/>
          </a:prstGeom>
          <a:solidFill>
            <a:srgbClr val="20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35915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0:25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2286000"/>
            <a:ext cx="8229600" cy="41148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2359152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NB1 — Processes, parts, time, ordering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46920" y="2286000"/>
            <a:ext cx="2103120" cy="41148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23591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40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743200"/>
            <a:ext cx="868680" cy="411480"/>
          </a:xfrm>
          <a:prstGeom prst="rect">
            <a:avLst/>
          </a:prstGeom>
          <a:solidFill>
            <a:srgbClr val="20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81635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1:05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2743200"/>
            <a:ext cx="8229600" cy="41148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08760" y="2816352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NB2 — Roles &amp; the PRO pattern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743200"/>
            <a:ext cx="2103120" cy="41148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60" y="28163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30 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00400"/>
            <a:ext cx="868680" cy="411480"/>
          </a:xfrm>
          <a:prstGeom prst="rect">
            <a:avLst/>
          </a:prstGeom>
          <a:solidFill>
            <a:srgbClr val="168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27355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1:35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3200400"/>
            <a:ext cx="8229600" cy="41148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08760" y="3273552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NB3 — Spatial objects &amp; their parts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200400"/>
            <a:ext cx="2103120" cy="41148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2735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25 min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657600"/>
            <a:ext cx="86868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73075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2:00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0" y="3657600"/>
            <a:ext cx="8229600" cy="411480"/>
          </a:xfrm>
          <a:prstGeom prst="rect">
            <a:avLst/>
          </a:prstGeom>
          <a:solidFill>
            <a:srgbClr val="FDE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08760" y="3730752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</a:rPr>
              <a:t>Break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46920" y="3657600"/>
            <a:ext cx="2103120" cy="411480"/>
          </a:xfrm>
          <a:prstGeom prst="rect">
            <a:avLst/>
          </a:prstGeom>
          <a:solidFill>
            <a:srgbClr val="FDE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38360" y="37307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15 min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14800"/>
            <a:ext cx="868680" cy="411480"/>
          </a:xfrm>
          <a:prstGeom prst="rect">
            <a:avLst/>
          </a:prstGeom>
          <a:solidFill>
            <a:srgbClr val="168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18795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2:15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71600" y="4114800"/>
            <a:ext cx="8229600" cy="41148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08760" y="4187952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NB4 — Qualities, quantities, thresholds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114800"/>
            <a:ext cx="2103120" cy="41148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38360" y="41879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30 min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572000"/>
            <a:ext cx="868680" cy="411480"/>
          </a:xfrm>
          <a:prstGeom prst="rect">
            <a:avLst/>
          </a:prstGeom>
          <a:solidFill>
            <a:srgbClr val="20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64515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2:45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71600" y="4572000"/>
            <a:ext cx="8229600" cy="41148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08760" y="4645152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NB5 — Connections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46920" y="4572000"/>
            <a:ext cx="2103120" cy="41148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38360" y="46451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30 min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029200"/>
            <a:ext cx="868680" cy="411480"/>
          </a:xfrm>
          <a:prstGeom prst="rect">
            <a:avLst/>
          </a:prstGeom>
          <a:solidFill>
            <a:srgbClr val="20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10235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3:15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0" y="5029200"/>
            <a:ext cx="8229600" cy="41148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08760" y="5102352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NB6 — Reasoning &amp; SPARQL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46920" y="5029200"/>
            <a:ext cx="2103120" cy="41148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38360" y="51023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20 min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486400"/>
            <a:ext cx="86868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555955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3:35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71600" y="5486400"/>
            <a:ext cx="8229600" cy="41148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08760" y="5559552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NB7 — FAIR publishing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5486400"/>
            <a:ext cx="2103120" cy="41148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38360" y="55595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15 min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5943600"/>
            <a:ext cx="86868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601675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3:50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71600" y="5943600"/>
            <a:ext cx="8229600" cy="41148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508760" y="6016752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Q&amp;A and wrap-up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46920" y="5943600"/>
            <a:ext cx="2103120" cy="41148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38360" y="60167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10 min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Speakers &amp; Resources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394960" cy="2743200"/>
          </a:xfrm>
          <a:prstGeom prst="rect">
            <a:avLst/>
          </a:prstGeom>
          <a:solidFill>
            <a:srgbClr val="2A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Michel Dumontier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AF8"/>
                </a:solidFill>
              </a:rPr>
              <a:t>Distinguished Professor of Data Science
Maastricht University · Institute of Data Science
Co-founder of the FAIR principles  ·  Co-creator of SULO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349240" cy="2743200"/>
          </a:xfrm>
          <a:prstGeom prst="rect">
            <a:avLst/>
          </a:prstGeom>
          <a:solidFill>
            <a:srgbClr val="2A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Remzi Celebi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AF8"/>
                </a:solidFill>
              </a:rPr>
              <a:t>Assistant Professor
Maastricht University · Institute of Data Science
Biomedical knowledge graphs · semantic data integration · ML for health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97680"/>
            <a:ext cx="10927080" cy="2194560"/>
          </a:xfrm>
          <a:prstGeom prst="rect">
            <a:avLst/>
          </a:prstGeom>
          <a:solidFill>
            <a:srgbClr val="2A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AF8"/>
                </a:solidFill>
              </a:rPr>
              <a:t>▸ Notebooks:  github.com/MaastrichtU-IDS/sulo-tutorial — notebooks/mie2026/
▸ SULO:        w3id.org/sulo
▸ PRO:         w3id.org/ontostart/pro/
▸ OntoStart:   github.com/micheldumontier/ontostart
▸ FOOPS!:      foops.linkeddata.es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6EAF8"/>
                </a:solidFill>
              </a:rPr>
              <a:t>Welcome — let's begin Mary's odyssey.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