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57" r:id="rId4"/>
    <p:sldId id="258" r:id="rId5"/>
    <p:sldId id="272" r:id="rId6"/>
    <p:sldId id="270" r:id="rId7"/>
    <p:sldId id="271" r:id="rId8"/>
    <p:sldId id="267" r:id="rId9"/>
    <p:sldId id="275" r:id="rId10"/>
    <p:sldId id="276" r:id="rId11"/>
    <p:sldId id="260" r:id="rId12"/>
    <p:sldId id="261" r:id="rId13"/>
    <p:sldId id="262" r:id="rId14"/>
    <p:sldId id="264" r:id="rId15"/>
    <p:sldId id="266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5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ED2E44-F0D1-4F7A-927C-568277086A5D}" type="datetimeFigureOut">
              <a:rPr lang="nl-NL" smtClean="0"/>
              <a:t>26-5-2026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9F99B4-C7A0-41C2-81F4-388E2E65FE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2957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9F99B4-C7A0-41C2-81F4-388E2E65FE40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642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9F99B4-C7A0-41C2-81F4-388E2E65FE40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1485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c6851bf96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c6851bf96_0_158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7c6851bf96_0_158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9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c6851bf9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c6851bf96_0_17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7c6851bf96_0_17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nl-NL"/>
              <a:t>10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slide">
  <p:cSld name="Table slide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479876" y="414260"/>
            <a:ext cx="11099507" cy="7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311502" y="6318628"/>
            <a:ext cx="121896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696178" y="6318628"/>
            <a:ext cx="530216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1085302" y="6318400"/>
            <a:ext cx="49408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80" name="Google Shape;80;p13"/>
          <p:cNvPicPr preferRelativeResize="0"/>
          <p:nvPr/>
        </p:nvPicPr>
        <p:blipFill rotWithShape="1">
          <a:blip r:embed="rId2">
            <a:alphaModFix/>
          </a:blip>
          <a:srcRect r="19769"/>
          <a:stretch/>
        </p:blipFill>
        <p:spPr>
          <a:xfrm>
            <a:off x="479877" y="6173621"/>
            <a:ext cx="2136499" cy="5063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5799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43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FFFFFF"/>
                </a:solidFill>
              </a:rPr>
              <a:t>Clinical Ontology Engineering with SULO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 dirty="0">
                <a:solidFill>
                  <a:srgbClr val="D6EAF8"/>
                </a:solidFill>
              </a:rPr>
              <a:t>A Hands-On Tutorial — Mary's Clinical Odyssey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6EAF8"/>
                </a:solidFill>
              </a:rPr>
              <a:t>Medical Informatics Europe (MIE)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CCEE"/>
                </a:solidFill>
              </a:rPr>
              <a:t>Michel Dumontier  ·  Remzi Celebi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88AACC"/>
                </a:solidFill>
              </a:rPr>
              <a:t>Institute of Data Science, Maastricht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dirty="0">
                <a:solidFill>
                  <a:srgbClr val="E0E0E0"/>
                </a:solidFill>
              </a:rPr>
              <a:t>From clinical timeline to </a:t>
            </a:r>
            <a:r>
              <a:rPr lang="en-US" b="0" i="1" dirty="0">
                <a:solidFill>
                  <a:srgbClr val="E0E0E0"/>
                </a:solidFill>
              </a:rPr>
              <a:t>querying an expressive</a:t>
            </a:r>
            <a:r>
              <a:rPr b="0" i="1" dirty="0">
                <a:solidFill>
                  <a:srgbClr val="E0E0E0"/>
                </a:solidFill>
              </a:rPr>
              <a:t> ontology using SULO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FFFFFF"/>
                </a:solidFill>
              </a:rPr>
              <a:t>Ontologies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1" dirty="0">
                <a:solidFill>
                  <a:srgbClr val="D6EAF8"/>
                </a:solidFill>
              </a:rPr>
              <a:t>Lie at the heart of semantic interoperability</a:t>
            </a:r>
            <a:endParaRPr sz="1400" b="0" i="1" dirty="0">
              <a:solidFill>
                <a:srgbClr val="D6EAF8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/>
              <a:t>Ontologies </a:t>
            </a:r>
            <a:r>
              <a:rPr lang="en-US" sz="2400" dirty="0"/>
              <a:t>offer a </a:t>
            </a:r>
            <a:r>
              <a:rPr lang="en-US" sz="2400" i="1" dirty="0"/>
              <a:t>formalization </a:t>
            </a:r>
            <a:r>
              <a:rPr lang="en-US" sz="2400" dirty="0"/>
              <a:t>of a s</a:t>
            </a:r>
            <a:r>
              <a:rPr lang="en-US" sz="2400" i="1" dirty="0"/>
              <a:t>hared conceptualization</a:t>
            </a:r>
            <a:r>
              <a:rPr lang="en-US" sz="2400" dirty="0"/>
              <a:t> of a </a:t>
            </a:r>
            <a:r>
              <a:rPr lang="en-US" sz="2400" i="1" dirty="0"/>
              <a:t>domain</a:t>
            </a:r>
            <a:r>
              <a:rPr lang="en-US" sz="2400" dirty="0"/>
              <a:t>. They provide machine interpretable descriptions of entities, their attributes, and their relations.</a:t>
            </a:r>
          </a:p>
          <a:p>
            <a:pPr lvl="0"/>
            <a:endParaRPr lang="en-US" sz="2400" dirty="0"/>
          </a:p>
          <a:p>
            <a:pPr lvl="0"/>
            <a:r>
              <a:rPr lang="en-US" sz="2400" b="1" dirty="0"/>
              <a:t>Upper Level Ontologies (ULOs)</a:t>
            </a:r>
            <a:r>
              <a:rPr lang="en-US" sz="2400" dirty="0"/>
              <a:t>, aka </a:t>
            </a:r>
            <a:r>
              <a:rPr lang="en-US" sz="2400" i="1" dirty="0"/>
              <a:t>foundation ontologies</a:t>
            </a:r>
            <a:r>
              <a:rPr lang="en-US" sz="2400" dirty="0"/>
              <a:t>, offer an overarching axiomatic framework for domain ontologies (DOs) as they </a:t>
            </a:r>
            <a:r>
              <a:rPr lang="en-US" sz="2400" i="1" dirty="0"/>
              <a:t>constrain </a:t>
            </a:r>
            <a:r>
              <a:rPr lang="en-US" sz="2400" dirty="0"/>
              <a:t>the conceptualization and formalization of a domain.</a:t>
            </a:r>
          </a:p>
          <a:p>
            <a:pPr lvl="0"/>
            <a:endParaRPr lang="en-US" sz="2400" dirty="0"/>
          </a:p>
          <a:p>
            <a:pPr lvl="0"/>
            <a:r>
              <a:rPr lang="en-US" sz="2400" dirty="0"/>
              <a:t>Many ULOs have been proposed: BFO, GFO, DOLCE, UFO, SUMO, and some such as SIO and </a:t>
            </a:r>
            <a:r>
              <a:rPr lang="en-US" sz="2400" dirty="0" err="1"/>
              <a:t>BioTop</a:t>
            </a:r>
            <a:r>
              <a:rPr lang="en-US" sz="2400" dirty="0"/>
              <a:t> contain and extend ULOs into domain specific classes and relations.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noProof="0" dirty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noProof="0" dirty="0">
                <a:solidFill>
                  <a:srgbClr val="D6EAF8"/>
                </a:solidFill>
              </a:rPr>
              <a:t>Clinical ontology engineering,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931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347472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noProof="0" dirty="0">
                <a:solidFill>
                  <a:srgbClr val="206AA8"/>
                </a:solidFill>
              </a:rPr>
              <a:t>⚠ ULOs remain difficult to understand and apply</a:t>
            </a:r>
          </a:p>
          <a:p>
            <a:pPr algn="l">
              <a:spcBef>
                <a:spcPts val="300"/>
              </a:spcBef>
            </a:pPr>
            <a:r>
              <a:rPr lang="en-US" sz="2000" noProof="0" dirty="0">
                <a:solidFill>
                  <a:srgbClr val="2C2C2C"/>
                </a:solidFill>
              </a:rPr>
              <a:t>▸ Nuanced philosophical considerations </a:t>
            </a:r>
          </a:p>
          <a:p>
            <a:pPr>
              <a:spcBef>
                <a:spcPts val="300"/>
              </a:spcBef>
            </a:pPr>
            <a:r>
              <a:rPr lang="en-US" sz="2000" noProof="0" dirty="0">
                <a:solidFill>
                  <a:srgbClr val="2C2C2C"/>
                </a:solidFill>
              </a:rPr>
              <a:t>▸Unfamiliar or technical labels</a:t>
            </a:r>
          </a:p>
          <a:p>
            <a:pPr algn="l">
              <a:spcBef>
                <a:spcPts val="300"/>
              </a:spcBef>
            </a:pPr>
            <a:r>
              <a:rPr lang="en-US" sz="2000" noProof="0" dirty="0">
                <a:solidFill>
                  <a:srgbClr val="2C2C2C"/>
                </a:solidFill>
              </a:rPr>
              <a:t>▸Requires familiarity with logic</a:t>
            </a:r>
          </a:p>
          <a:p>
            <a:pPr algn="l">
              <a:spcBef>
                <a:spcPts val="300"/>
              </a:spcBef>
            </a:pPr>
            <a:r>
              <a:rPr lang="en-US" sz="2000" noProof="0" dirty="0">
                <a:solidFill>
                  <a:srgbClr val="2C2C2C"/>
                </a:solidFill>
              </a:rPr>
              <a:t>▸Each has some distinct, missing, under-represented, or </a:t>
            </a:r>
            <a:r>
              <a:rPr lang="en-US" noProof="0" dirty="0">
                <a:solidFill>
                  <a:srgbClr val="2C2C2C"/>
                </a:solidFill>
              </a:rPr>
              <a:t>over-constrained elements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460137"/>
            <a:ext cx="3502025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noProof="0" dirty="0">
                <a:solidFill>
                  <a:srgbClr val="206AA8"/>
                </a:solidFill>
              </a:rPr>
              <a:t>⚠  Unresolved Patterns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▸Is a condition a process or a state?</a:t>
            </a:r>
          </a:p>
          <a:p>
            <a:pPr algn="l"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How to refer to a process
that hasn't happened yet?
(prescriptions → administrations)</a:t>
            </a:r>
          </a:p>
          <a:p>
            <a:pPr algn="l"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How to link a measurement to the quality it measures?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▸How to deal with the gain and loss of parts, qualities, and quantities of a patient over time?</a:t>
            </a:r>
          </a:p>
          <a:p>
            <a:pPr algn="l"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When is parthood the wrong
relation for anatomy?</a:t>
            </a:r>
          </a:p>
          <a:p>
            <a:pPr algn="l"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How to merge views from
two EHR systems?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DF21F-74A0-C852-EFCC-0B11BEFB42B0}"/>
              </a:ext>
            </a:extLst>
          </p:cNvPr>
          <p:cNvSpPr txBox="1"/>
          <p:nvPr/>
        </p:nvSpPr>
        <p:spPr>
          <a:xfrm>
            <a:off x="4251960" y="1467394"/>
            <a:ext cx="3291840" cy="3362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noProof="0" dirty="0">
                <a:solidFill>
                  <a:srgbClr val="206AA8"/>
                </a:solidFill>
              </a:rPr>
              <a:t>⚠  Modelling Deficiencies</a:t>
            </a:r>
          </a:p>
          <a:p>
            <a:pPr algn="l"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Inconsistent use of upper-level concepts and relations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ad hoc class/property naming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Classes rarely have rich descriptions amenable to automated reasoning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 Conflation between the role of ontologies and that of schemas</a:t>
            </a:r>
          </a:p>
          <a:p>
            <a:pPr>
              <a:spcBef>
                <a:spcPts val="300"/>
              </a:spcBef>
            </a:pPr>
            <a:r>
              <a:rPr lang="en-US" noProof="0" dirty="0">
                <a:solidFill>
                  <a:srgbClr val="2C2C2C"/>
                </a:solidFill>
              </a:rPr>
              <a:t>▸Domain ontologies are not interoperable by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Goals of the Tutorial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577840" cy="493776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577840" cy="4937760"/>
          </a:xfrm>
          <a:prstGeom prst="rect">
            <a:avLst/>
          </a:prstGeom>
          <a:solidFill>
            <a:srgbClr val="E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1208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206AA8"/>
                </a:solidFill>
              </a:rPr>
              <a:t>🩺  Domain modelling with SULO</a:t>
            </a:r>
          </a:p>
          <a:p>
            <a:pPr algn="l"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Demonstrate that SULO's vocabulary is sufficient for clinical modelling </a:t>
            </a:r>
          </a:p>
          <a:p>
            <a:pPr algn="l"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Teach the SULO design patterns: PRO, SOLID</a:t>
            </a:r>
          </a:p>
          <a:p>
            <a:pPr algn="l"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Translate clinical reality into OWL axioms that the reasoner can use</a:t>
            </a:r>
          </a:p>
          <a:p>
            <a:pPr algn="l"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Apply automated classification to recover clinically meaningful statements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C8B58B-4035-C6DA-0B15-1A6A8B457771}"/>
              </a:ext>
            </a:extLst>
          </p:cNvPr>
          <p:cNvSpPr txBox="1"/>
          <p:nvPr/>
        </p:nvSpPr>
        <p:spPr>
          <a:xfrm>
            <a:off x="6263640" y="1463040"/>
            <a:ext cx="5532120" cy="5301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06AA8"/>
                </a:solidFill>
              </a:rPr>
              <a:t>What Participants Take Home</a:t>
            </a:r>
          </a:p>
          <a:p>
            <a:pPr>
              <a:spcBef>
                <a:spcPts val="300"/>
              </a:spcBef>
            </a:pPr>
            <a:r>
              <a:rPr lang="nl-NL" sz="2400" dirty="0">
                <a:solidFill>
                  <a:srgbClr val="2C2C2C"/>
                </a:solidFill>
              </a:rPr>
              <a:t>▸ Workflow: </a:t>
            </a:r>
            <a:r>
              <a:rPr lang="nl-NL" sz="2400" dirty="0" err="1">
                <a:solidFill>
                  <a:srgbClr val="2C2C2C"/>
                </a:solidFill>
              </a:rPr>
              <a:t>idea</a:t>
            </a:r>
            <a:r>
              <a:rPr lang="nl-NL" sz="2400" dirty="0">
                <a:solidFill>
                  <a:srgbClr val="2C2C2C"/>
                </a:solidFill>
              </a:rPr>
              <a:t> → </a:t>
            </a:r>
            <a:r>
              <a:rPr lang="nl-NL" sz="2400" dirty="0" err="1">
                <a:solidFill>
                  <a:srgbClr val="2C2C2C"/>
                </a:solidFill>
              </a:rPr>
              <a:t>axiom</a:t>
            </a:r>
            <a:r>
              <a:rPr lang="nl-NL" sz="2400" dirty="0">
                <a:solidFill>
                  <a:srgbClr val="2C2C2C"/>
                </a:solidFill>
              </a:rPr>
              <a:t> → </a:t>
            </a:r>
            <a:r>
              <a:rPr lang="nl-NL" sz="2400" dirty="0" err="1">
                <a:solidFill>
                  <a:srgbClr val="2C2C2C"/>
                </a:solidFill>
              </a:rPr>
              <a:t>reasoning</a:t>
            </a:r>
            <a:endParaRPr lang="nl-NL" sz="24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Fluent in SULO's top-level classes and properties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Confident modeling with the PRO and
SOLID design patterns</a:t>
            </a: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Practical skills for</a:t>
            </a:r>
            <a:r>
              <a:rPr lang="en-US" sz="2400" dirty="0">
                <a:solidFill>
                  <a:srgbClr val="2C2C2C"/>
                </a:solidFill>
              </a:rPr>
              <a:t> </a:t>
            </a:r>
            <a:r>
              <a:rPr sz="2400" dirty="0">
                <a:solidFill>
                  <a:srgbClr val="2C2C2C"/>
                </a:solidFill>
              </a:rPr>
              <a:t>programmatic ontology engineering</a:t>
            </a:r>
            <a:endParaRPr lang="en-US" sz="24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Design patterns you can reuse in</a:t>
            </a:r>
            <a:r>
              <a:rPr lang="en-US" sz="2400" dirty="0">
                <a:solidFill>
                  <a:srgbClr val="2C2C2C"/>
                </a:solidFill>
              </a:rPr>
              <a:t> </a:t>
            </a:r>
            <a:r>
              <a:rPr sz="2400" dirty="0">
                <a:solidFill>
                  <a:srgbClr val="2C2C2C"/>
                </a:solidFill>
              </a:rPr>
              <a:t>your own domain ontology</a:t>
            </a:r>
            <a:endParaRPr lang="en-US" sz="2400" dirty="0">
              <a:solidFill>
                <a:srgbClr val="2C2C2C"/>
              </a:solidFill>
            </a:endParaRP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Can query an ontology with
SPARQL 1.1 property paths</a:t>
            </a:r>
          </a:p>
          <a:p>
            <a:pPr algn="l">
              <a:spcBef>
                <a:spcPts val="300"/>
              </a:spcBef>
            </a:pPr>
            <a:endParaRPr sz="2400" dirty="0">
              <a:solidFill>
                <a:srgbClr val="2C2C2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SULO?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9496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1325880"/>
            <a:ext cx="58064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120640" cy="438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Why SULO?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 lightweight, carefully engineered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top-level ontology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Provides foundational categories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shared across all domains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Designed to be small enough to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learn in one session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Grounds domain ontologies in a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shared formal framework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Enables cross-domain interoperability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and reuse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Aligns with BFO, DOLCE, and other</a:t>
            </a:r>
            <a:r>
              <a:rPr lang="en-US" sz="2000" dirty="0">
                <a:solidFill>
                  <a:srgbClr val="2C2C2C"/>
                </a:solidFill>
              </a:rPr>
              <a:t> </a:t>
            </a:r>
            <a:r>
              <a:rPr sz="2000" dirty="0">
                <a:solidFill>
                  <a:srgbClr val="2C2C2C"/>
                </a:solidFill>
              </a:rPr>
              <a:t>upper-level ontologies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6AA8"/>
                </a:solidFill>
              </a:rPr>
              <a:t>Key SULO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828800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80760" y="187452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SpatialObject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2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thing that exists in space (pizza, oven, box)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340864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8658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An intrinsic feature (spiciness level)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852928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89864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measured feature with numeric value (SHU)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364992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410712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A temporally extended event (baking, delivery)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3877056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922776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relational property played by an 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389120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434840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entity whose function is to encode meaning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4901184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946904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 point on the timeline (order received)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5413248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458968"/>
            <a:ext cx="3840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An elapsed time quantity (30-min delivery)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6E3B-8D8A-1651-E75F-D6534A211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960320-9D9B-C669-0B95-0E050B0F29FA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D03A6-1099-C87D-0301-010F6ADC90EC}"/>
              </a:ext>
            </a:extLst>
          </p:cNvPr>
          <p:cNvSpPr txBox="1"/>
          <p:nvPr/>
        </p:nvSpPr>
        <p:spPr>
          <a:xfrm>
            <a:off x="411480" y="164592"/>
            <a:ext cx="114150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 – a minimal upper level ontology for everyday modeling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616C1-A86C-94EF-608E-586902E13E3E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02F521-8392-8D97-ADF7-DAF21CF48711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Google Shape;156;p24">
            <a:extLst>
              <a:ext uri="{FF2B5EF4-FFF2-40B4-BE49-F238E27FC236}">
                <a16:creationId xmlns:a16="http://schemas.microsoft.com/office/drawing/2014/main" id="{B4F34E92-49B9-47D1-2919-D6D15579974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27667" y="1593166"/>
            <a:ext cx="3952287" cy="441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92;p27">
            <a:extLst>
              <a:ext uri="{FF2B5EF4-FFF2-40B4-BE49-F238E27FC236}">
                <a16:creationId xmlns:a16="http://schemas.microsoft.com/office/drawing/2014/main" id="{65E7A469-66CF-32BF-C207-0E5015952D0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8969" y="1519397"/>
            <a:ext cx="2992605" cy="4624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8841FD1-38DD-242C-C436-1C574689A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1174" y="1516199"/>
            <a:ext cx="2200388" cy="52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075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B9A5-DDAD-C786-C64A-2066A853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2B9A3A-268E-9AAD-B543-61BEF8450003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AEA16-AC1F-2C0A-35A6-CEF37787DFD0}"/>
              </a:ext>
            </a:extLst>
          </p:cNvPr>
          <p:cNvSpPr txBox="1"/>
          <p:nvPr/>
        </p:nvSpPr>
        <p:spPr>
          <a:xfrm>
            <a:off x="411480" y="164592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</a:rPr>
              <a:t>SULO’s postcard: Ontology simplified</a:t>
            </a:r>
            <a:r>
              <a:rPr lang="en-US" sz="3200" b="1" dirty="0">
                <a:solidFill>
                  <a:srgbClr val="FFFFFF"/>
                </a:solidFill>
              </a:rPr>
              <a:t>!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9CE3C-2464-70FD-1537-997D2D7A7907}"/>
              </a:ext>
            </a:extLst>
          </p:cNvPr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DD6564-C9FB-8B82-1370-1814A04ECF26}"/>
              </a:ext>
            </a:extLst>
          </p:cNvPr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1AC252-3C69-3130-3B27-2BC0A850F046}"/>
              </a:ext>
            </a:extLst>
          </p:cNvPr>
          <p:cNvSpPr txBox="1"/>
          <p:nvPr/>
        </p:nvSpPr>
        <p:spPr>
          <a:xfrm>
            <a:off x="6080760" y="238658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7FA529-8144-4EC2-4879-EF8B1640CAF2}"/>
              </a:ext>
            </a:extLst>
          </p:cNvPr>
          <p:cNvSpPr txBox="1"/>
          <p:nvPr/>
        </p:nvSpPr>
        <p:spPr>
          <a:xfrm>
            <a:off x="6080760" y="289864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CE2DA-06A8-E929-C01E-522F58E01E5E}"/>
              </a:ext>
            </a:extLst>
          </p:cNvPr>
          <p:cNvSpPr txBox="1"/>
          <p:nvPr/>
        </p:nvSpPr>
        <p:spPr>
          <a:xfrm>
            <a:off x="6080760" y="3410712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372C1-C968-5CBA-0531-1E224395459E}"/>
              </a:ext>
            </a:extLst>
          </p:cNvPr>
          <p:cNvSpPr txBox="1"/>
          <p:nvPr/>
        </p:nvSpPr>
        <p:spPr>
          <a:xfrm>
            <a:off x="6080760" y="3922776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4D730-DAA6-3FA2-808E-089798511C94}"/>
              </a:ext>
            </a:extLst>
          </p:cNvPr>
          <p:cNvSpPr txBox="1"/>
          <p:nvPr/>
        </p:nvSpPr>
        <p:spPr>
          <a:xfrm>
            <a:off x="6080760" y="4434840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8B2549-3C88-6461-8122-A42DAD0CD5D5}"/>
              </a:ext>
            </a:extLst>
          </p:cNvPr>
          <p:cNvSpPr txBox="1"/>
          <p:nvPr/>
        </p:nvSpPr>
        <p:spPr>
          <a:xfrm>
            <a:off x="6080760" y="4946904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440F10-755C-0BAA-7A7D-C5543311B81A}"/>
              </a:ext>
            </a:extLst>
          </p:cNvPr>
          <p:cNvSpPr txBox="1"/>
          <p:nvPr/>
        </p:nvSpPr>
        <p:spPr>
          <a:xfrm>
            <a:off x="6080760" y="5458968"/>
            <a:ext cx="1737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06AA8"/>
                </a:solidFill>
              </a:rPr>
              <a:t>Duration</a:t>
            </a:r>
          </a:p>
        </p:txBody>
      </p:sp>
      <p:pic>
        <p:nvPicPr>
          <p:cNvPr id="34" name="Google Shape;345;p41">
            <a:extLst>
              <a:ext uri="{FF2B5EF4-FFF2-40B4-BE49-F238E27FC236}">
                <a16:creationId xmlns:a16="http://schemas.microsoft.com/office/drawing/2014/main" id="{E326FC3B-ED2A-606D-FF83-C09E1824CE6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0251" y="1422762"/>
            <a:ext cx="9961017" cy="50000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409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06EC-10AE-F7E8-A0CD-14F602CB6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04BAF1-6947-5083-B596-0EC1D71C940B}"/>
              </a:ext>
            </a:extLst>
          </p:cNvPr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1B76FB-CA13-2495-0952-2C33D7D80998}"/>
              </a:ext>
            </a:extLst>
          </p:cNvPr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Learning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C8CE84-3BAE-6A72-AB8B-E15158CF17D3}"/>
              </a:ext>
            </a:extLst>
          </p:cNvPr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AF8"/>
                </a:solidFill>
              </a:rPr>
              <a:t>What attendees will be able to do by the end of the half-day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E159C3-8FF2-D6CD-47F5-5BDD85739CDB}"/>
              </a:ext>
            </a:extLst>
          </p:cNvPr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4D5CFD-0594-8166-859C-F909CEDE25DE}"/>
              </a:ext>
            </a:extLst>
          </p:cNvPr>
          <p:cNvSpPr txBox="1"/>
          <p:nvPr/>
        </p:nvSpPr>
        <p:spPr>
          <a:xfrm>
            <a:off x="640080" y="1463040"/>
            <a:ext cx="10972800" cy="479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Classify clinical entities under SULO's top-level categories
(Process, </a:t>
            </a:r>
            <a:r>
              <a:rPr sz="2400" dirty="0" err="1">
                <a:solidFill>
                  <a:srgbClr val="2C2C2C"/>
                </a:solidFill>
              </a:rPr>
              <a:t>SpatialObject</a:t>
            </a:r>
            <a:r>
              <a:rPr sz="2400" dirty="0">
                <a:solidFill>
                  <a:srgbClr val="2C2C2C"/>
                </a:solidFill>
              </a:rPr>
              <a:t>, Quality, Quantity, Role, </a:t>
            </a:r>
            <a:r>
              <a:rPr sz="2400" dirty="0" err="1">
                <a:solidFill>
                  <a:srgbClr val="2C2C2C"/>
                </a:solidFill>
              </a:rPr>
              <a:t>InformationObject</a:t>
            </a:r>
            <a:r>
              <a:rPr sz="2400" dirty="0">
                <a:solidFill>
                  <a:srgbClr val="2C2C2C"/>
                </a:solidFill>
              </a:rPr>
              <a:t>, Time, Unit, Collection)</a:t>
            </a: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Apply the </a:t>
            </a:r>
            <a:r>
              <a:rPr sz="2400" b="1" dirty="0">
                <a:solidFill>
                  <a:srgbClr val="2C2C2C"/>
                </a:solidFill>
              </a:rPr>
              <a:t>PRO</a:t>
            </a:r>
            <a:r>
              <a:rPr sz="2400" dirty="0">
                <a:solidFill>
                  <a:srgbClr val="2C2C2C"/>
                </a:solidFill>
              </a:rPr>
              <a:t> pattern to model procedural participation
without inventing new object properties</a:t>
            </a: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Use the </a:t>
            </a:r>
            <a:r>
              <a:rPr sz="2400" b="1" dirty="0">
                <a:solidFill>
                  <a:srgbClr val="2C2C2C"/>
                </a:solidFill>
              </a:rPr>
              <a:t>SOLID</a:t>
            </a:r>
            <a:r>
              <a:rPr sz="2400" dirty="0">
                <a:solidFill>
                  <a:srgbClr val="2C2C2C"/>
                </a:solidFill>
              </a:rPr>
              <a:t> pattern to model numeric clinical measurements with units and thresholds</a:t>
            </a:r>
            <a:endParaRPr lang="en-US" sz="24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lang="en-US" sz="2400" dirty="0">
                <a:solidFill>
                  <a:srgbClr val="2C2C2C"/>
                </a:solidFill>
              </a:rPr>
              <a:t>▸ Distinguish a disease (Process), the </a:t>
            </a:r>
            <a:r>
              <a:rPr lang="en-US" sz="2400" dirty="0" err="1">
                <a:solidFill>
                  <a:srgbClr val="2C2C2C"/>
                </a:solidFill>
              </a:rPr>
              <a:t>tumour</a:t>
            </a:r>
            <a:r>
              <a:rPr lang="en-US" sz="2400" dirty="0">
                <a:solidFill>
                  <a:srgbClr val="2C2C2C"/>
                </a:solidFill>
              </a:rPr>
              <a:t> (</a:t>
            </a:r>
            <a:r>
              <a:rPr lang="en-US" sz="2400" dirty="0" err="1">
                <a:solidFill>
                  <a:srgbClr val="2C2C2C"/>
                </a:solidFill>
              </a:rPr>
              <a:t>SpatialObject</a:t>
            </a:r>
            <a:r>
              <a:rPr lang="en-US" sz="2400" dirty="0">
                <a:solidFill>
                  <a:srgbClr val="2C2C2C"/>
                </a:solidFill>
              </a:rPr>
              <a:t>), and the diagnosis statement (</a:t>
            </a:r>
            <a:r>
              <a:rPr lang="en-US" sz="2400" dirty="0" err="1">
                <a:solidFill>
                  <a:srgbClr val="2C2C2C"/>
                </a:solidFill>
              </a:rPr>
              <a:t>InformationObject</a:t>
            </a:r>
            <a:r>
              <a:rPr lang="en-US" sz="2400" dirty="0">
                <a:solidFill>
                  <a:srgbClr val="2C2C2C"/>
                </a:solidFill>
              </a:rPr>
              <a:t>)</a:t>
            </a: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Refer to not-yet-instantiated processes via the Collection / </a:t>
            </a:r>
            <a:r>
              <a:rPr sz="2400" dirty="0" err="1">
                <a:solidFill>
                  <a:srgbClr val="2C2C2C"/>
                </a:solidFill>
              </a:rPr>
              <a:t>hasItem</a:t>
            </a:r>
            <a:r>
              <a:rPr sz="2400" dirty="0">
                <a:solidFill>
                  <a:srgbClr val="2C2C2C"/>
                </a:solidFill>
              </a:rPr>
              <a:t> pattern</a:t>
            </a:r>
          </a:p>
          <a:p>
            <a:pPr algn="l">
              <a:spcBef>
                <a:spcPts val="300"/>
              </a:spcBef>
            </a:pPr>
            <a:r>
              <a:rPr sz="2400" dirty="0">
                <a:solidFill>
                  <a:srgbClr val="2C2C2C"/>
                </a:solidFill>
              </a:rPr>
              <a:t>▸ Query the ontology with SPARQL — property paths, multi-hop joins, COUNT DISTINCT, </a:t>
            </a:r>
            <a:r>
              <a:rPr sz="2400" dirty="0" err="1">
                <a:solidFill>
                  <a:srgbClr val="2C2C2C"/>
                </a:solidFill>
              </a:rPr>
              <a:t>sameAs</a:t>
            </a:r>
            <a:endParaRPr sz="2400" dirty="0">
              <a:solidFill>
                <a:srgbClr val="2C2C2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8627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471" y="821117"/>
            <a:ext cx="11580284" cy="593015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6" name="Google Shape;276;p34"/>
          <p:cNvCxnSpPr/>
          <p:nvPr/>
        </p:nvCxnSpPr>
        <p:spPr>
          <a:xfrm>
            <a:off x="1376141" y="2145213"/>
            <a:ext cx="2231019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34"/>
          <p:cNvCxnSpPr/>
          <p:nvPr/>
        </p:nvCxnSpPr>
        <p:spPr>
          <a:xfrm>
            <a:off x="1440857" y="2389050"/>
            <a:ext cx="3249554" cy="0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4"/>
          <p:cNvCxnSpPr/>
          <p:nvPr/>
        </p:nvCxnSpPr>
        <p:spPr>
          <a:xfrm>
            <a:off x="1342750" y="2820204"/>
            <a:ext cx="253334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34"/>
          <p:cNvCxnSpPr/>
          <p:nvPr/>
        </p:nvCxnSpPr>
        <p:spPr>
          <a:xfrm>
            <a:off x="1733148" y="5230076"/>
            <a:ext cx="1149301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0" name="Google Shape;280;p34"/>
          <p:cNvCxnSpPr/>
          <p:nvPr/>
        </p:nvCxnSpPr>
        <p:spPr>
          <a:xfrm>
            <a:off x="3435271" y="5449519"/>
            <a:ext cx="856177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4"/>
          <p:cNvCxnSpPr/>
          <p:nvPr/>
        </p:nvCxnSpPr>
        <p:spPr>
          <a:xfrm>
            <a:off x="2490984" y="5906233"/>
            <a:ext cx="1474416" cy="17196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2" name="Google Shape;282;p34"/>
          <p:cNvSpPr txBox="1">
            <a:spLocks noGrp="1"/>
          </p:cNvSpPr>
          <p:nvPr>
            <p:ph type="title"/>
          </p:nvPr>
        </p:nvSpPr>
        <p:spPr>
          <a:xfrm>
            <a:off x="479858" y="210418"/>
            <a:ext cx="11099509" cy="755803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990"/>
            </a:pPr>
            <a:r>
              <a:rPr lang="nl-NL" sz="2639"/>
              <a:t>SNOMED axioms can be expressed with domain-independent SULO relations</a:t>
            </a:r>
            <a:endParaRPr sz="263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5"/>
          <p:cNvSpPr txBox="1">
            <a:spLocks noGrp="1"/>
          </p:cNvSpPr>
          <p:nvPr>
            <p:ph type="title"/>
          </p:nvPr>
        </p:nvSpPr>
        <p:spPr>
          <a:xfrm>
            <a:off x="479874" y="259152"/>
            <a:ext cx="11099509" cy="755803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algn="l">
              <a:spcBef>
                <a:spcPts val="0"/>
              </a:spcBef>
              <a:buSzPts val="990"/>
            </a:pPr>
            <a:r>
              <a:rPr lang="nl-NL" sz="3306" dirty="0"/>
              <a:t>SULO-</a:t>
            </a:r>
            <a:r>
              <a:rPr lang="nl-NL" sz="3306" dirty="0" err="1"/>
              <a:t>based</a:t>
            </a:r>
            <a:r>
              <a:rPr lang="nl-NL" sz="3306" dirty="0"/>
              <a:t> SPHN schema </a:t>
            </a:r>
            <a:r>
              <a:rPr lang="nl-NL" sz="3306" dirty="0" err="1"/>
              <a:t>comprises</a:t>
            </a:r>
            <a:r>
              <a:rPr lang="nl-NL" sz="3306" dirty="0"/>
              <a:t> a more </a:t>
            </a:r>
            <a:r>
              <a:rPr lang="nl-NL" sz="3306" dirty="0" err="1"/>
              <a:t>robust</a:t>
            </a:r>
            <a:r>
              <a:rPr lang="nl-NL" sz="3306" dirty="0"/>
              <a:t> </a:t>
            </a:r>
            <a:r>
              <a:rPr lang="nl-NL" sz="3306" dirty="0" err="1"/>
              <a:t>semantics</a:t>
            </a:r>
            <a:endParaRPr sz="3306" dirty="0"/>
          </a:p>
        </p:txBody>
      </p:sp>
      <p:pic>
        <p:nvPicPr>
          <p:cNvPr id="289" name="Google Shape;28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6573" y="1832736"/>
            <a:ext cx="6628039" cy="3865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2524" y="1015331"/>
            <a:ext cx="5732142" cy="58421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1" name="Google Shape;291;p35"/>
          <p:cNvCxnSpPr/>
          <p:nvPr/>
        </p:nvCxnSpPr>
        <p:spPr>
          <a:xfrm>
            <a:off x="1013269" y="4116088"/>
            <a:ext cx="730610" cy="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2" name="Google Shape;292;p35"/>
          <p:cNvCxnSpPr/>
          <p:nvPr/>
        </p:nvCxnSpPr>
        <p:spPr>
          <a:xfrm>
            <a:off x="7091619" y="3095054"/>
            <a:ext cx="751804" cy="7598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3" name="Google Shape;293;p35"/>
          <p:cNvCxnSpPr/>
          <p:nvPr/>
        </p:nvCxnSpPr>
        <p:spPr>
          <a:xfrm rot="10800000" flipH="1">
            <a:off x="1013269" y="4268515"/>
            <a:ext cx="672225" cy="1999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5"/>
          <p:cNvCxnSpPr/>
          <p:nvPr/>
        </p:nvCxnSpPr>
        <p:spPr>
          <a:xfrm rot="10800000" flipH="1">
            <a:off x="10248430" y="3097853"/>
            <a:ext cx="672225" cy="1999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5"/>
          <p:cNvCxnSpPr/>
          <p:nvPr/>
        </p:nvCxnSpPr>
        <p:spPr>
          <a:xfrm>
            <a:off x="7091619" y="3259244"/>
            <a:ext cx="1307259" cy="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6" name="Google Shape;296;p35"/>
          <p:cNvCxnSpPr/>
          <p:nvPr/>
        </p:nvCxnSpPr>
        <p:spPr>
          <a:xfrm>
            <a:off x="1555994" y="4767951"/>
            <a:ext cx="519465" cy="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" name="Google Shape;297;p35"/>
          <p:cNvCxnSpPr/>
          <p:nvPr/>
        </p:nvCxnSpPr>
        <p:spPr>
          <a:xfrm>
            <a:off x="565119" y="3956663"/>
            <a:ext cx="0" cy="84777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8" name="Google Shape;298;p35"/>
          <p:cNvCxnSpPr/>
          <p:nvPr/>
        </p:nvCxnSpPr>
        <p:spPr>
          <a:xfrm rot="10800000" flipH="1">
            <a:off x="7041432" y="5269154"/>
            <a:ext cx="672225" cy="1999"/>
          </a:xfrm>
          <a:prstGeom prst="straightConnector1">
            <a:avLst/>
          </a:prstGeom>
          <a:noFill/>
          <a:ln w="28575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9" name="Google Shape;299;p35"/>
          <p:cNvCxnSpPr/>
          <p:nvPr/>
        </p:nvCxnSpPr>
        <p:spPr>
          <a:xfrm rot="10800000" flipH="1">
            <a:off x="8398878" y="5347634"/>
            <a:ext cx="672225" cy="1999"/>
          </a:xfrm>
          <a:prstGeom prst="straightConnector1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0" name="Google Shape;300;p35"/>
          <p:cNvCxnSpPr/>
          <p:nvPr/>
        </p:nvCxnSpPr>
        <p:spPr>
          <a:xfrm>
            <a:off x="1555994" y="4851267"/>
            <a:ext cx="538660" cy="0"/>
          </a:xfrm>
          <a:prstGeom prst="straightConnector1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1" name="Google Shape;301;p35"/>
          <p:cNvSpPr txBox="1"/>
          <p:nvPr/>
        </p:nvSpPr>
        <p:spPr>
          <a:xfrm>
            <a:off x="5726575" y="790113"/>
            <a:ext cx="6306357" cy="120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68" tIns="121868" rIns="121868" bIns="121868" anchor="t" anchorCtr="0">
            <a:noAutofit/>
          </a:bodyPr>
          <a:lstStyle/>
          <a:p>
            <a:r>
              <a:rPr lang="nl-N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SPHN uses </a:t>
            </a:r>
            <a:r>
              <a:rPr lang="nl-NL" sz="1600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hasX (</a:t>
            </a:r>
            <a:r>
              <a:rPr lang="nl-N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and data) properties, which are brittle when the schema is refactored. A SULO-based formalisation ensures predicate semantics are put into classes, whose instances are connected with domain-independent relations.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Running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AF8"/>
                </a:solidFill>
              </a:rPr>
              <a:t>Mary, 52 — breast cancer journey, Feb–Sep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338560" cy="73152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30352" y="1691640"/>
            <a:ext cx="219456" cy="219456"/>
          </a:xfrm>
          <a:prstGeom prst="ellipse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Feb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A5C"/>
                </a:solidFill>
              </a:rPr>
              <a:t>Routine
visit + BP</a:t>
            </a:r>
          </a:p>
        </p:txBody>
      </p:sp>
      <p:sp>
        <p:nvSpPr>
          <p:cNvPr id="10" name="Oval 9"/>
          <p:cNvSpPr/>
          <p:nvPr/>
        </p:nvSpPr>
        <p:spPr>
          <a:xfrm>
            <a:off x="1901952" y="1691640"/>
            <a:ext cx="219456" cy="219456"/>
          </a:xfrm>
          <a:prstGeom prst="ellipse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Feb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A5C"/>
                </a:solidFill>
              </a:rPr>
              <a:t>Ultrasound</a:t>
            </a:r>
          </a:p>
        </p:txBody>
      </p:sp>
      <p:sp>
        <p:nvSpPr>
          <p:cNvPr id="13" name="Oval 12"/>
          <p:cNvSpPr/>
          <p:nvPr/>
        </p:nvSpPr>
        <p:spPr>
          <a:xfrm>
            <a:off x="3273552" y="1691640"/>
            <a:ext cx="219456" cy="219456"/>
          </a:xfrm>
          <a:prstGeom prst="ellipse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Feb 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A5C"/>
                </a:solidFill>
              </a:rPr>
              <a:t>Preliminary
diagnosis</a:t>
            </a:r>
          </a:p>
        </p:txBody>
      </p:sp>
      <p:sp>
        <p:nvSpPr>
          <p:cNvPr id="16" name="Oval 15"/>
          <p:cNvSpPr/>
          <p:nvPr/>
        </p:nvSpPr>
        <p:spPr>
          <a:xfrm>
            <a:off x="4645152" y="1691640"/>
            <a:ext cx="219456" cy="219456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Feb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7E22"/>
                </a:solidFill>
              </a:rPr>
              <a:t>Biopsy</a:t>
            </a:r>
          </a:p>
        </p:txBody>
      </p:sp>
      <p:sp>
        <p:nvSpPr>
          <p:cNvPr id="19" name="Oval 18"/>
          <p:cNvSpPr/>
          <p:nvPr/>
        </p:nvSpPr>
        <p:spPr>
          <a:xfrm>
            <a:off x="6016752" y="1691640"/>
            <a:ext cx="219456" cy="219456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Mar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7E22"/>
                </a:solidFill>
              </a:rPr>
              <a:t>Histopathology +
confirmed dx</a:t>
            </a:r>
          </a:p>
        </p:txBody>
      </p:sp>
      <p:sp>
        <p:nvSpPr>
          <p:cNvPr id="22" name="Oval 21"/>
          <p:cNvSpPr/>
          <p:nvPr/>
        </p:nvSpPr>
        <p:spPr>
          <a:xfrm>
            <a:off x="7388352" y="1691640"/>
            <a:ext cx="219456" cy="219456"/>
          </a:xfrm>
          <a:prstGeom prst="ellipse">
            <a:avLst/>
          </a:prstGeom>
          <a:solidFill>
            <a:srgbClr val="168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Mar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68A8E"/>
                </a:solidFill>
              </a:rPr>
              <a:t>Chemotherapy
starts</a:t>
            </a:r>
          </a:p>
        </p:txBody>
      </p:sp>
      <p:sp>
        <p:nvSpPr>
          <p:cNvPr id="25" name="Oval 24"/>
          <p:cNvSpPr/>
          <p:nvPr/>
        </p:nvSpPr>
        <p:spPr>
          <a:xfrm>
            <a:off x="8759952" y="1691640"/>
            <a:ext cx="219456" cy="219456"/>
          </a:xfrm>
          <a:prstGeom prst="ellipse">
            <a:avLst/>
          </a:prstGeom>
          <a:solidFill>
            <a:srgbClr val="168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Jun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68A8E"/>
                </a:solidFill>
              </a:rPr>
              <a:t>Chemo
ends</a:t>
            </a:r>
          </a:p>
        </p:txBody>
      </p:sp>
      <p:sp>
        <p:nvSpPr>
          <p:cNvPr id="28" name="Oval 27"/>
          <p:cNvSpPr/>
          <p:nvPr/>
        </p:nvSpPr>
        <p:spPr>
          <a:xfrm>
            <a:off x="10131552" y="1691640"/>
            <a:ext cx="219456" cy="219456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Jul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67E22"/>
                </a:solidFill>
              </a:rPr>
              <a:t>Lumpectomy</a:t>
            </a:r>
          </a:p>
        </p:txBody>
      </p:sp>
      <p:sp>
        <p:nvSpPr>
          <p:cNvPr id="31" name="Oval 30"/>
          <p:cNvSpPr/>
          <p:nvPr/>
        </p:nvSpPr>
        <p:spPr>
          <a:xfrm>
            <a:off x="11503152" y="1691640"/>
            <a:ext cx="219456" cy="219456"/>
          </a:xfrm>
          <a:prstGeom prst="ellipse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0" y="12801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2C2C"/>
                </a:solidFill>
              </a:rPr>
              <a:t>Sep 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205740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06AA8"/>
                </a:solidFill>
              </a:rPr>
              <a:t>Follow-up
(remission)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108960"/>
            <a:ext cx="3657600" cy="32004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3108960"/>
            <a:ext cx="3657600" cy="32004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8160" y="3108960"/>
            <a:ext cx="3657600" cy="32004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4360" y="3246120"/>
            <a:ext cx="347472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One patient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Nine clinical events on one timeline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Two clinicians (radiologist Miller,
gynecologist Smith)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One anatomical site (left breast)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One disease (invasive carcinoma)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Four chemo administrations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246120"/>
            <a:ext cx="3639186" cy="2808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One rich record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Numeric features (BP measurements)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Categorical features (</a:t>
            </a:r>
            <a:r>
              <a:rPr dirty="0" err="1">
                <a:solidFill>
                  <a:srgbClr val="2C2C2C"/>
                </a:solidFill>
              </a:rPr>
              <a:t>tumour</a:t>
            </a:r>
            <a:r>
              <a:rPr dirty="0">
                <a:solidFill>
                  <a:srgbClr val="2C2C2C"/>
                </a:solidFill>
              </a:rPr>
              <a:t> grade,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receptor status)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Information entities (diagnosis
statements, prescription)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Cross-system identity (FHIR </a:t>
            </a:r>
            <a:r>
              <a:rPr dirty="0" err="1">
                <a:solidFill>
                  <a:srgbClr val="2C2C2C"/>
                </a:solidFill>
              </a:rPr>
              <a:t>Patientresource</a:t>
            </a:r>
            <a:r>
              <a:rPr dirty="0">
                <a:solidFill>
                  <a:srgbClr val="2C2C2C"/>
                </a:solidFill>
              </a:rPr>
              <a:t> via </a:t>
            </a:r>
            <a:r>
              <a:rPr dirty="0" err="1">
                <a:solidFill>
                  <a:srgbClr val="2C2C2C"/>
                </a:solidFill>
              </a:rPr>
              <a:t>owl:sameAs</a:t>
            </a:r>
            <a:r>
              <a:rPr dirty="0">
                <a:solidFill>
                  <a:srgbClr val="2C2C2C"/>
                </a:solidFill>
              </a:rPr>
              <a:t>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246120"/>
            <a:ext cx="3474720" cy="2885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One pedagogic principle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Each event lands a specific SULO
category and OWL construct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Each new construct produces a
reasoner-derived classification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No design pattern is rehearsed every scene teaches a new lesson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Builds incrementally:
NB1 → … → NB</a:t>
            </a:r>
            <a:r>
              <a:rPr lang="en-US" dirty="0">
                <a:solidFill>
                  <a:srgbClr val="2C2C2C"/>
                </a:solidFill>
              </a:rPr>
              <a:t>6</a:t>
            </a:r>
            <a:endParaRPr dirty="0">
              <a:solidFill>
                <a:srgbClr val="2C2C2C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AF8"/>
                </a:solidFill>
              </a:rPr>
              <a:t>How each notebook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6AA8"/>
                </a:solidFill>
              </a:rPr>
              <a:t>The anchor pattern (per notebook)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760720" cy="640080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39112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</a:rPr>
              <a:t>①  Clinical scene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057400"/>
            <a:ext cx="33832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Pick a dated event from Mary's odyssey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5760720" cy="640080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816352"/>
            <a:ext cx="2011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</a:rPr>
              <a:t>②  Identify the construct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834640"/>
            <a:ext cx="33832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What SULO category + OWL feature does this scene need?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20440"/>
            <a:ext cx="5760720" cy="640080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593592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</a:rPr>
              <a:t>③  Declare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611880"/>
            <a:ext cx="33832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C2C2C"/>
                </a:solidFill>
              </a:rPr>
              <a:t>T-Box restrictions + A-Box assertions, using only SULO properties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5760720" cy="640080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370832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</a:rPr>
              <a:t>④  Run the reasoner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89120"/>
            <a:ext cx="33832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C2C2C"/>
                </a:solidFill>
              </a:rPr>
              <a:t>HermiT</a:t>
            </a:r>
            <a:r>
              <a:rPr sz="1400" b="0" i="0" dirty="0">
                <a:solidFill>
                  <a:srgbClr val="2C2C2C"/>
                </a:solidFill>
              </a:rPr>
              <a:t> consistency check + classification of defined classes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074920"/>
            <a:ext cx="5760720" cy="640080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799" y="5148072"/>
            <a:ext cx="20573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E67E22"/>
                </a:solidFill>
              </a:rPr>
              <a:t>⑤  Verify with SPARQL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166360"/>
            <a:ext cx="33832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C2C2C"/>
                </a:solidFill>
              </a:rPr>
              <a:t>Query for the inferred answer — the lesson has landed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021265"/>
            <a:ext cx="5212080" cy="2916495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12280" y="2286000"/>
            <a:ext cx="4937760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6AA8"/>
                </a:solidFill>
              </a:rPr>
              <a:t>The SULO discipline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Zero new object properties added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Zero new data properties added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Every relation is </a:t>
            </a:r>
            <a:r>
              <a:rPr dirty="0" err="1">
                <a:solidFill>
                  <a:srgbClr val="2C2C2C"/>
                </a:solidFill>
              </a:rPr>
              <a:t>sulo</a:t>
            </a:r>
            <a:r>
              <a:rPr dirty="0">
                <a:solidFill>
                  <a:srgbClr val="2C2C2C"/>
                </a:solidFill>
              </a:rPr>
              <a:t>:* or owl:*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New domain content arrives as</a:t>
            </a:r>
            <a:r>
              <a:rPr lang="en-US" dirty="0">
                <a:solidFill>
                  <a:srgbClr val="2C2C2C"/>
                </a:solidFill>
              </a:rPr>
              <a:t> </a:t>
            </a:r>
            <a:r>
              <a:rPr dirty="0">
                <a:solidFill>
                  <a:srgbClr val="2C2C2C"/>
                </a:solidFill>
              </a:rPr>
              <a:t>new classes</a:t>
            </a:r>
          </a:p>
          <a:p>
            <a:pPr algn="l">
              <a:spcBef>
                <a:spcPts val="300"/>
              </a:spcBef>
            </a:pPr>
            <a:r>
              <a:rPr dirty="0">
                <a:solidFill>
                  <a:srgbClr val="2C2C2C"/>
                </a:solidFill>
              </a:rPr>
              <a:t>▸ Domain growth stays aligned with</a:t>
            </a:r>
            <a:r>
              <a:rPr lang="en-US" dirty="0">
                <a:solidFill>
                  <a:srgbClr val="2C2C2C"/>
                </a:solidFill>
              </a:rPr>
              <a:t> t</a:t>
            </a:r>
            <a:r>
              <a:rPr dirty="0">
                <a:solidFill>
                  <a:srgbClr val="2C2C2C"/>
                </a:solidFill>
              </a:rPr>
              <a:t>he upper-level ontology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Tutorial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AF8"/>
                </a:solidFill>
              </a:rPr>
              <a:t>Seven notebooks · 3:00 pm – 6:00 pm · coffee break 4:30 – 5:00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777240" cy="6035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88720" y="132588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6245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Introduction to the tutorial &amp; SULO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65506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What we'll build · Mary's odyssey · SULO postcard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4813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3A5C"/>
                </a:solidFill>
              </a:rPr>
              <a:t>15:00  ·  15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65960"/>
            <a:ext cx="777240" cy="6035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88720" y="196596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1031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00253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Processes, parts, time, ordering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29514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Process, Time | SubClass, cardinality, SPARQL +/*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3A5C"/>
                </a:solidFill>
              </a:rPr>
              <a:t>15:15  ·  25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06040"/>
            <a:ext cx="777240" cy="603504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88720" y="260604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743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4261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Roles &amp; the PRO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93522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Role | Nested existentials, defined 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761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06AA8"/>
                </a:solidFill>
              </a:rPr>
              <a:t>15:40  ·  25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777240" cy="603504"/>
          </a:xfrm>
          <a:prstGeom prst="rect">
            <a:avLst/>
          </a:prstGeom>
          <a:solidFill>
            <a:srgbClr val="168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88720" y="324612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383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8269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Spatial objects &amp; their parts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57530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SpatialObject | AllDisjoint, only, split definition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401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68A8E"/>
                </a:solidFill>
              </a:rPr>
              <a:t>16:05  ·  25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777240" cy="60350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188720" y="3886200"/>
            <a:ext cx="10607040" cy="603504"/>
          </a:xfrm>
          <a:prstGeom prst="rect">
            <a:avLst/>
          </a:prstGeom>
          <a:solidFill>
            <a:srgbClr val="FDE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25880" y="405079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☕  Coffee break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0416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67E22"/>
                </a:solidFill>
              </a:rPr>
              <a:t>16:30  ·  30 min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777240" cy="60350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88720" y="452628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634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6285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Qualities, quantities, thresholds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485546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Quality, Quantity, Unit | ConstrainedDatatype, union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46817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67E22"/>
                </a:solidFill>
              </a:rPr>
              <a:t>17:00  ·  20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166360"/>
            <a:ext cx="777240" cy="603504"/>
          </a:xfrm>
          <a:prstGeom prst="rect">
            <a:avLst/>
          </a:prstGeom>
          <a:solidFill>
            <a:srgbClr val="8B3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188720" y="516636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03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5880" y="520293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Connections (containment, info, identity)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49554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InformationObject, Collection | value restriction, AllDifferent, sameAs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53218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8B3EA1"/>
                </a:solidFill>
              </a:rPr>
              <a:t>17:20  ·  20 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806440"/>
            <a:ext cx="777240" cy="603504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188720" y="5806440"/>
            <a:ext cx="10607040" cy="603504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11480" y="59436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NB6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5843016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</a:rPr>
              <a:t>Reasoning &amp; SPARQL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613562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(queries only) | property paths, UNION, COUNT DISTINCT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5961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06AA8"/>
                </a:solidFill>
              </a:rPr>
              <a:t>17:40  ·  20 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OWL Constructs Covered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AF8"/>
                </a:solidFill>
              </a:rPr>
              <a:t>~25 distinct constructs, each anchored to a clinical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788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337560" y="1417320"/>
            <a:ext cx="2788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2788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281160" y="1417320"/>
            <a:ext cx="2542032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2560320" cy="3577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Structural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Class declaration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SubClassOf</a:t>
            </a:r>
            <a:endParaRPr sz="20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Multiple typing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owl:imports</a:t>
            </a:r>
            <a:endParaRPr sz="2000" dirty="0">
              <a:solidFill>
                <a:srgbClr val="2C2C2C"/>
              </a:solidFill>
            </a:endParaRP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Named individuals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AnnotationProperty</a:t>
            </a:r>
            <a:r>
              <a:rPr sz="2000" dirty="0">
                <a:solidFill>
                  <a:srgbClr val="2C2C2C"/>
                </a:solidFill>
              </a:rPr>
              <a:t>
declaration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rdfs:label</a:t>
            </a:r>
            <a:r>
              <a:rPr sz="2000" dirty="0">
                <a:solidFill>
                  <a:srgbClr val="2C2C2C"/>
                </a:solidFill>
              </a:rPr>
              <a:t> @en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rdfs:comment</a:t>
            </a:r>
            <a:endParaRPr sz="2000" dirty="0">
              <a:solidFill>
                <a:srgbClr val="2C2C2C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256032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06AA8"/>
                </a:solidFill>
              </a:rPr>
              <a:t>Class expressions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Existential  some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Universal  only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Intersection  ⊓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Union  ⊔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Value  hasFeature value …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Cardinality  exactly / max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Nested existentials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ConstrainedDatatype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554480"/>
            <a:ext cx="2560320" cy="4193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206AA8"/>
                </a:solidFill>
              </a:rPr>
              <a:t>Axioms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EquivalentClasses</a:t>
            </a:r>
            <a:r>
              <a:rPr sz="2000" dirty="0">
                <a:solidFill>
                  <a:srgbClr val="2C2C2C"/>
                </a:solidFill>
              </a:rPr>
              <a:t>
(defined class)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AllDisjoint</a:t>
            </a:r>
            <a:r>
              <a:rPr sz="2000" dirty="0">
                <a:solidFill>
                  <a:srgbClr val="2C2C2C"/>
                </a:solidFill>
              </a:rPr>
              <a:t> (classes)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AllDifferent</a:t>
            </a:r>
            <a:r>
              <a:rPr sz="2000" dirty="0">
                <a:solidFill>
                  <a:srgbClr val="2C2C2C"/>
                </a:solidFill>
              </a:rPr>
              <a:t> (individuals)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owl:sameAs</a:t>
            </a:r>
            <a:r>
              <a:rPr sz="2000" dirty="0">
                <a:solidFill>
                  <a:srgbClr val="2C2C2C"/>
                </a:solidFill>
              </a:rPr>
              <a:t> (individuals)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TransitiveProperty</a:t>
            </a:r>
            <a:r>
              <a:rPr sz="2000" dirty="0">
                <a:solidFill>
                  <a:srgbClr val="2C2C2C"/>
                </a:solidFill>
              </a:rPr>
              <a:t>
(inherited)</a:t>
            </a:r>
          </a:p>
          <a:p>
            <a:pPr algn="l">
              <a:spcBef>
                <a:spcPts val="300"/>
              </a:spcBef>
            </a:pPr>
            <a:r>
              <a:rPr sz="2000" dirty="0">
                <a:solidFill>
                  <a:srgbClr val="2C2C2C"/>
                </a:solidFill>
              </a:rPr>
              <a:t>▸ </a:t>
            </a:r>
            <a:r>
              <a:rPr sz="2000" dirty="0" err="1">
                <a:solidFill>
                  <a:srgbClr val="2C2C2C"/>
                </a:solidFill>
              </a:rPr>
              <a:t>FunctionalProperty</a:t>
            </a:r>
            <a:r>
              <a:rPr sz="2000" dirty="0">
                <a:solidFill>
                  <a:srgbClr val="2C2C2C"/>
                </a:solidFill>
              </a:rPr>
              <a:t>
(inherited)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554480"/>
            <a:ext cx="2377440" cy="4470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06AA8"/>
                </a:solidFill>
              </a:rPr>
              <a:t>SPARQL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Property path  +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Property path  *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Parameter substitution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COUNT(DISTINCT …)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UNION (symmetric
sameAs traversal)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Multi-hop joins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Type filtering</a:t>
            </a:r>
          </a:p>
          <a:p>
            <a:pPr algn="l">
              <a:spcBef>
                <a:spcPts val="300"/>
              </a:spcBef>
            </a:pPr>
            <a:r>
              <a:rPr sz="2000">
                <a:solidFill>
                  <a:srgbClr val="2C2C2C"/>
                </a:solidFill>
              </a:rPr>
              <a:t>▸ ORDER 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Speakers &amp;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394960" cy="2743200"/>
          </a:xfrm>
          <a:prstGeom prst="rect">
            <a:avLst/>
          </a:prstGeom>
          <a:solidFill>
            <a:srgbClr val="2A4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Michel Dumontier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51206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6EAF8"/>
                </a:solidFill>
              </a:rPr>
              <a:t>Distinguished Professor of Data Science
Maastricht University · Institute of Data Science
Co-founder of the FAIR principles </a:t>
            </a:r>
            <a:endParaRPr lang="en-US" b="0" i="0" dirty="0">
              <a:solidFill>
                <a:srgbClr val="D6EAF8"/>
              </a:solidFill>
            </a:endParaRPr>
          </a:p>
          <a:p>
            <a:pPr algn="l"/>
            <a:r>
              <a:rPr b="0" i="0" dirty="0">
                <a:solidFill>
                  <a:srgbClr val="D6EAF8"/>
                </a:solidFill>
              </a:rPr>
              <a:t> ·  Co-creator of SULO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349240" cy="2743200"/>
          </a:xfrm>
          <a:prstGeom prst="rect">
            <a:avLst/>
          </a:prstGeom>
          <a:solidFill>
            <a:srgbClr val="2A4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417320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Remzi Celebi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6EAF8"/>
                </a:solidFill>
              </a:rPr>
              <a:t>Assistant Professor
Maastricht University · Institute of Data Science
Biomedical knowledge graphs · semantic data integration · ML for health</a:t>
            </a:r>
            <a:endParaRPr lang="en-US" b="0" i="0" dirty="0">
              <a:solidFill>
                <a:srgbClr val="D6EAF8"/>
              </a:solidFill>
            </a:endParaRPr>
          </a:p>
          <a:p>
            <a:r>
              <a:rPr lang="nl-NL" dirty="0">
                <a:solidFill>
                  <a:srgbClr val="D6EAF8"/>
                </a:solidFill>
              </a:rPr>
              <a:t> ·  Co-</a:t>
            </a:r>
            <a:r>
              <a:rPr lang="nl-NL" dirty="0" err="1">
                <a:solidFill>
                  <a:srgbClr val="D6EAF8"/>
                </a:solidFill>
              </a:rPr>
              <a:t>creator</a:t>
            </a:r>
            <a:r>
              <a:rPr lang="nl-NL" dirty="0">
                <a:solidFill>
                  <a:srgbClr val="D6EAF8"/>
                </a:solidFill>
              </a:rPr>
              <a:t> of SULO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97680"/>
            <a:ext cx="10927080" cy="2194560"/>
          </a:xfrm>
          <a:prstGeom prst="rect">
            <a:avLst/>
          </a:prstGeom>
          <a:solidFill>
            <a:srgbClr val="2A4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Resources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92040"/>
            <a:ext cx="10607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6EAF8"/>
                </a:solidFill>
              </a:rPr>
              <a:t>▸ Notebooks:  github.com/</a:t>
            </a:r>
            <a:r>
              <a:rPr b="0" i="0" dirty="0" err="1">
                <a:solidFill>
                  <a:srgbClr val="D6EAF8"/>
                </a:solidFill>
              </a:rPr>
              <a:t>MaastrichtU</a:t>
            </a:r>
            <a:r>
              <a:rPr b="0" i="0" dirty="0">
                <a:solidFill>
                  <a:srgbClr val="D6EAF8"/>
                </a:solidFill>
              </a:rPr>
              <a:t>-IDS/</a:t>
            </a:r>
            <a:r>
              <a:rPr b="0" i="0" dirty="0" err="1">
                <a:solidFill>
                  <a:srgbClr val="D6EAF8"/>
                </a:solidFill>
              </a:rPr>
              <a:t>sulo</a:t>
            </a:r>
            <a:r>
              <a:rPr b="0" i="0" dirty="0">
                <a:solidFill>
                  <a:srgbClr val="D6EAF8"/>
                </a:solidFill>
              </a:rPr>
              <a:t>-tutorial — notebooks/mie2026/
▸ SULO:        w3id.org/</a:t>
            </a:r>
            <a:r>
              <a:rPr b="0" i="0" dirty="0" err="1">
                <a:solidFill>
                  <a:srgbClr val="D6EAF8"/>
                </a:solidFill>
              </a:rPr>
              <a:t>sulo</a:t>
            </a:r>
            <a:r>
              <a:rPr b="0" i="0" dirty="0">
                <a:solidFill>
                  <a:srgbClr val="D6EAF8"/>
                </a:solidFill>
              </a:rPr>
              <a:t>
▸ PRO:         w3id.org/</a:t>
            </a:r>
            <a:r>
              <a:rPr b="0" i="0" dirty="0" err="1">
                <a:solidFill>
                  <a:srgbClr val="D6EAF8"/>
                </a:solidFill>
              </a:rPr>
              <a:t>ontostart</a:t>
            </a:r>
            <a:r>
              <a:rPr b="0" i="0" dirty="0">
                <a:solidFill>
                  <a:srgbClr val="D6EAF8"/>
                </a:solidFill>
              </a:rPr>
              <a:t>/pro/
▸ </a:t>
            </a:r>
            <a:r>
              <a:rPr b="0" i="0" dirty="0" err="1">
                <a:solidFill>
                  <a:srgbClr val="D6EAF8"/>
                </a:solidFill>
              </a:rPr>
              <a:t>OntoStart</a:t>
            </a:r>
            <a:r>
              <a:rPr b="0" i="0" dirty="0">
                <a:solidFill>
                  <a:srgbClr val="D6EAF8"/>
                </a:solidFill>
              </a:rPr>
              <a:t>:   github.com/</a:t>
            </a:r>
            <a:r>
              <a:rPr b="0" i="0" dirty="0" err="1">
                <a:solidFill>
                  <a:srgbClr val="D6EAF8"/>
                </a:solidFill>
              </a:rPr>
              <a:t>micheldumontier</a:t>
            </a:r>
            <a:r>
              <a:rPr b="0" i="0" dirty="0">
                <a:solidFill>
                  <a:srgbClr val="D6EAF8"/>
                </a:solidFill>
              </a:rPr>
              <a:t>/</a:t>
            </a:r>
            <a:r>
              <a:rPr b="0" i="0" dirty="0" err="1">
                <a:solidFill>
                  <a:srgbClr val="D6EAF8"/>
                </a:solidFill>
              </a:rPr>
              <a:t>ontostart</a:t>
            </a:r>
            <a:endParaRPr b="0" i="0" dirty="0">
              <a:solidFill>
                <a:srgbClr val="D6EAF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6EAF8"/>
                </a:solidFill>
              </a:rPr>
              <a:t>Welcome — let's begin Mary's odyssey.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1536</Words>
  <Application>Microsoft Office PowerPoint</Application>
  <PresentationFormat>Custom</PresentationFormat>
  <Paragraphs>231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SNOMED axioms can be expressed with domain-independent SULO relations</vt:lpstr>
      <vt:lpstr>SULO-based SPHN schema comprises a more robust semantics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Dumontier, Michel (DACS)</cp:lastModifiedBy>
  <cp:revision>8</cp:revision>
  <dcterms:created xsi:type="dcterms:W3CDTF">2013-01-27T09:14:16Z</dcterms:created>
  <dcterms:modified xsi:type="dcterms:W3CDTF">2026-05-26T09:25:39Z</dcterms:modified>
  <cp:category/>
</cp:coreProperties>
</file>