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70" r:id="rId7"/>
    <p:sldId id="271" r:id="rId8"/>
    <p:sldId id="273" r:id="rId9"/>
    <p:sldId id="260" r:id="rId10"/>
    <p:sldId id="262" r:id="rId11"/>
    <p:sldId id="263" r:id="rId12"/>
    <p:sldId id="265" r:id="rId13"/>
    <p:sldId id="266" r:id="rId14"/>
    <p:sldId id="267" r:id="rId15"/>
    <p:sldId id="269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9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251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DF6581-109A-4FEC-95AF-6803B81E789D}" type="datetimeFigureOut">
              <a:rPr lang="nl-NL" smtClean="0"/>
              <a:t>9-5-2026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7F551D-9065-47BA-BD67-709B9CE8F5E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145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7F551D-9065-47BA-BD67-709B9CE8F5E7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480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7F551D-9065-47BA-BD67-709B9CE8F5E7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9142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FAIR Ontology Engineering with SULO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D6EAF8"/>
                </a:solidFill>
              </a:rPr>
              <a:t>A Hands-On Tutorial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 dirty="0">
                <a:solidFill>
                  <a:srgbClr val="D6EAF8"/>
                </a:solidFill>
              </a:rPr>
              <a:t>ESWC 2026  ·  May 10,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AACCEE"/>
                </a:solidFill>
              </a:rPr>
              <a:t>Michel Dumontier </a:t>
            </a:r>
            <a:r>
              <a:rPr lang="nl-NL" sz="2000" b="0" i="0" dirty="0">
                <a:solidFill>
                  <a:srgbClr val="AACCEE"/>
                </a:solidFill>
              </a:rPr>
              <a:t> · </a:t>
            </a:r>
            <a:r>
              <a:rPr lang="nl-NL" sz="2000" b="0" i="0" dirty="0" err="1">
                <a:solidFill>
                  <a:srgbClr val="AACCEE"/>
                </a:solidFill>
              </a:rPr>
              <a:t>Chang</a:t>
            </a:r>
            <a:r>
              <a:rPr lang="nl-NL" sz="2000" b="0" i="0" dirty="0">
                <a:solidFill>
                  <a:srgbClr val="AACCEE"/>
                </a:solidFill>
              </a:rPr>
              <a:t> Sun</a:t>
            </a:r>
            <a:endParaRPr sz="2000" b="0" i="0" dirty="0">
              <a:solidFill>
                <a:srgbClr val="AACCE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CC"/>
                </a:solidFill>
              </a:rPr>
              <a:t>Maastricht University  ·  Department of Advanced Computing Sciences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0E0E0"/>
                </a:solidFill>
              </a:rPr>
              <a:t>🍕  The pizza domain as a vehicle for principled ontology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Why does this tutorial exist?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63840" y="1371600"/>
            <a:ext cx="3931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3429000" cy="3439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⚠  Engineering Quality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Ontologies are re-invented
from scratch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Inconsistent use of upper-level concepts</a:t>
            </a:r>
            <a:endParaRPr lang="en-US" sz="2000" dirty="0">
              <a:solidFill>
                <a:srgbClr val="2C2C2C"/>
              </a:solidFill>
            </a:endParaRPr>
          </a:p>
          <a:p>
            <a:pPr>
              <a:spcBef>
                <a:spcPts val="300"/>
              </a:spcBef>
            </a:pPr>
            <a:r>
              <a:rPr lang="nl-NL" sz="2000" dirty="0">
                <a:solidFill>
                  <a:srgbClr val="2C2C2C"/>
                </a:solidFill>
              </a:rPr>
              <a:t>▸</a:t>
            </a:r>
            <a:r>
              <a:rPr sz="2000" i="1" dirty="0">
                <a:solidFill>
                  <a:srgbClr val="2C2C2C"/>
                </a:solidFill>
              </a:rPr>
              <a:t> </a:t>
            </a:r>
            <a:r>
              <a:rPr lang="en-US" sz="2000" i="1" dirty="0">
                <a:solidFill>
                  <a:srgbClr val="2C2C2C"/>
                </a:solidFill>
              </a:rPr>
              <a:t>a</a:t>
            </a:r>
            <a:r>
              <a:rPr sz="2000" i="1" dirty="0">
                <a:solidFill>
                  <a:srgbClr val="2C2C2C"/>
                </a:solidFill>
              </a:rPr>
              <a:t>d hoc</a:t>
            </a:r>
            <a:r>
              <a:rPr sz="2000" dirty="0">
                <a:solidFill>
                  <a:srgbClr val="2C2C2C"/>
                </a:solidFill>
              </a:rPr>
              <a:t> class/property naming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Missing or wrong axioms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Hard to reason over reliably</a:t>
            </a:r>
            <a:endParaRPr lang="en-US" sz="2000" dirty="0">
              <a:solidFill>
                <a:srgbClr val="2C2C2C"/>
              </a:solidFill>
            </a:endParaRPr>
          </a:p>
          <a:p>
            <a:pPr>
              <a:spcBef>
                <a:spcPts val="300"/>
              </a:spcBef>
            </a:pPr>
            <a:r>
              <a:rPr lang="nl-NL" sz="2000" b="1" dirty="0">
                <a:solidFill>
                  <a:srgbClr val="2C2C2C"/>
                </a:solidFill>
              </a:rPr>
              <a:t>▸ </a:t>
            </a:r>
            <a:r>
              <a:rPr lang="nl-NL" sz="2000" b="1" dirty="0" err="1">
                <a:solidFill>
                  <a:srgbClr val="2C2C2C"/>
                </a:solidFill>
              </a:rPr>
              <a:t>Not</a:t>
            </a:r>
            <a:r>
              <a:rPr lang="nl-NL" sz="2000" b="1" dirty="0">
                <a:solidFill>
                  <a:srgbClr val="2C2C2C"/>
                </a:solidFill>
              </a:rPr>
              <a:t> </a:t>
            </a:r>
            <a:r>
              <a:rPr lang="nl-NL" sz="2000" b="1" dirty="0" err="1">
                <a:solidFill>
                  <a:srgbClr val="2C2C2C"/>
                </a:solidFill>
              </a:rPr>
              <a:t>interoperable</a:t>
            </a:r>
            <a:r>
              <a:rPr lang="nl-NL" sz="2000" b="1" dirty="0">
                <a:solidFill>
                  <a:srgbClr val="2C2C2C"/>
                </a:solidFill>
              </a:rPr>
              <a:t> </a:t>
            </a:r>
            <a:r>
              <a:rPr lang="nl-NL" sz="2000" b="1" dirty="0" err="1">
                <a:solidFill>
                  <a:srgbClr val="2C2C2C"/>
                </a:solidFill>
              </a:rPr>
              <a:t>by</a:t>
            </a:r>
            <a:r>
              <a:rPr lang="nl-NL" sz="2000" b="1" dirty="0">
                <a:solidFill>
                  <a:srgbClr val="2C2C2C"/>
                </a:solidFill>
              </a:rPr>
              <a:t> design</a:t>
            </a:r>
            <a:endParaRPr sz="2000" b="1" dirty="0">
              <a:solidFill>
                <a:srgbClr val="2C2C2C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51960" y="1463040"/>
            <a:ext cx="342900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⚠  </a:t>
            </a:r>
            <a:r>
              <a:rPr sz="2000" b="1" dirty="0" err="1">
                <a:solidFill>
                  <a:srgbClr val="206AA8"/>
                </a:solidFill>
              </a:rPr>
              <a:t>FAIRness</a:t>
            </a:r>
            <a:r>
              <a:rPr sz="2000" b="1" dirty="0">
                <a:solidFill>
                  <a:srgbClr val="206AA8"/>
                </a:solidFill>
              </a:rPr>
              <a:t> Gaps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No stable IRI / version IRI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Missing metadata (title,
license, creator…)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Terms lack </a:t>
            </a:r>
            <a:r>
              <a:rPr lang="en-US" sz="2000" dirty="0">
                <a:solidFill>
                  <a:srgbClr val="2C2C2C"/>
                </a:solidFill>
              </a:rPr>
              <a:t>labels and descriptions</a:t>
            </a:r>
            <a:endParaRPr sz="2000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Not registered in any
catalogue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6576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⚠  Tooling &amp; Training Gap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Learners need end-to-end
workflow guidance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Upper ontologies are
under-used in teaching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Few tutorials connect
modelling → publishing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lang="en-US" sz="2000" dirty="0">
                <a:solidFill>
                  <a:srgbClr val="2C2C2C"/>
                </a:solidFill>
              </a:rPr>
              <a:t>Few</a:t>
            </a:r>
            <a:r>
              <a:rPr sz="2000" dirty="0">
                <a:solidFill>
                  <a:srgbClr val="2C2C2C"/>
                </a:solidFill>
              </a:rPr>
              <a:t> practical </a:t>
            </a:r>
            <a:r>
              <a:rPr lang="en-US" sz="2000" dirty="0">
                <a:solidFill>
                  <a:srgbClr val="2C2C2C"/>
                </a:solidFill>
              </a:rPr>
              <a:t>frameworks </a:t>
            </a:r>
            <a:r>
              <a:rPr sz="2000" dirty="0">
                <a:solidFill>
                  <a:srgbClr val="2C2C2C"/>
                </a:solidFill>
              </a:rPr>
              <a:t>for
FAIR ontology projects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Goals &amp; 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2120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Domain Modelling with SULO</a:t>
            </a:r>
            <a:r>
              <a:rPr lang="en-US" sz="2000" b="1" dirty="0">
                <a:solidFill>
                  <a:srgbClr val="206AA8"/>
                </a:solidFill>
              </a:rPr>
              <a:t> &amp; owlready2</a:t>
            </a:r>
            <a:endParaRPr sz="2000" b="1" dirty="0">
              <a:solidFill>
                <a:srgbClr val="206AA8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Master SULO's categories and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design patterns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Distinguish </a:t>
            </a:r>
            <a:r>
              <a:rPr lang="en-US" dirty="0">
                <a:solidFill>
                  <a:srgbClr val="2C2C2C"/>
                </a:solidFill>
              </a:rPr>
              <a:t>fundamental classes and relations 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Translate conceptual models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into OWL axioms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Validate designs with automated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reasoning (</a:t>
            </a:r>
            <a:r>
              <a:rPr dirty="0" err="1">
                <a:solidFill>
                  <a:srgbClr val="2C2C2C"/>
                </a:solidFill>
              </a:rPr>
              <a:t>HermiT</a:t>
            </a:r>
            <a:r>
              <a:rPr dirty="0">
                <a:solidFill>
                  <a:srgbClr val="2C2C2C"/>
                </a:solidFill>
              </a:rPr>
              <a:t> / ELK)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86200"/>
            <a:ext cx="5212080" cy="1623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FAIR Publication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Add </a:t>
            </a:r>
            <a:r>
              <a:rPr lang="en-US" dirty="0">
                <a:solidFill>
                  <a:srgbClr val="2C2C2C"/>
                </a:solidFill>
              </a:rPr>
              <a:t>high quality ontology</a:t>
            </a:r>
            <a:r>
              <a:rPr dirty="0">
                <a:solidFill>
                  <a:srgbClr val="2C2C2C"/>
                </a:solidFill>
              </a:rPr>
              <a:t> metadata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Publish with </a:t>
            </a:r>
            <a:r>
              <a:rPr dirty="0" err="1">
                <a:solidFill>
                  <a:srgbClr val="2C2C2C"/>
                </a:solidFill>
              </a:rPr>
              <a:t>OntoStart</a:t>
            </a:r>
            <a:r>
              <a:rPr dirty="0">
                <a:solidFill>
                  <a:srgbClr val="2C2C2C"/>
                </a:solidFill>
              </a:rPr>
              <a:t> CI/CD</a:t>
            </a:r>
            <a:r>
              <a:rPr lang="en-US" dirty="0">
                <a:solidFill>
                  <a:srgbClr val="2C2C2C"/>
                </a:solidFill>
              </a:rPr>
              <a:t> GitHub </a:t>
            </a:r>
            <a:r>
              <a:rPr dirty="0">
                <a:solidFill>
                  <a:srgbClr val="2C2C2C"/>
                </a:solidFill>
              </a:rPr>
              <a:t>pipeline to a persistent </a:t>
            </a:r>
            <a:r>
              <a:rPr lang="en-US" dirty="0">
                <a:solidFill>
                  <a:srgbClr val="2C2C2C"/>
                </a:solidFill>
              </a:rPr>
              <a:t>W3ID </a:t>
            </a:r>
            <a:r>
              <a:rPr dirty="0">
                <a:solidFill>
                  <a:srgbClr val="2C2C2C"/>
                </a:solidFill>
              </a:rPr>
              <a:t>IRI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lang="en-US" dirty="0">
                <a:solidFill>
                  <a:srgbClr val="2C2C2C"/>
                </a:solidFill>
              </a:rPr>
              <a:t>Get</a:t>
            </a:r>
            <a:r>
              <a:rPr dirty="0">
                <a:solidFill>
                  <a:srgbClr val="2C2C2C"/>
                </a:solidFill>
              </a:rPr>
              <a:t> FOOPS! </a:t>
            </a:r>
            <a:r>
              <a:rPr dirty="0" err="1">
                <a:solidFill>
                  <a:srgbClr val="2C2C2C"/>
                </a:solidFill>
              </a:rPr>
              <a:t>FAIRness</a:t>
            </a:r>
            <a:r>
              <a:rPr dirty="0">
                <a:solidFill>
                  <a:srgbClr val="2C2C2C"/>
                </a:solidFill>
              </a:rPr>
              <a:t> reports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and close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63040"/>
            <a:ext cx="539496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What Participants Take Home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End-to-end workflow: idea → axiom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→ reasoning → publication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Practical owlready2 skills for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programmatic ontology engineering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Design patterns you can reuse in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your own domain ontology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 ready-to-use FAIR ontology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template (</a:t>
            </a:r>
            <a:r>
              <a:rPr dirty="0" err="1">
                <a:solidFill>
                  <a:srgbClr val="2C2C2C"/>
                </a:solidFill>
              </a:rPr>
              <a:t>OntoStart</a:t>
            </a:r>
            <a:r>
              <a:rPr dirty="0">
                <a:solidFill>
                  <a:srgbClr val="2C2C2C"/>
                </a:solidFill>
              </a:rPr>
              <a:t>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Critical understanding of the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Open World Assumption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Ability to read and act on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automated quality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How the tutorial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 dirty="0">
                <a:solidFill>
                  <a:srgbClr val="555555"/>
                </a:solidFill>
              </a:rPr>
              <a:t>Every concept is introduced through a worked pizza example, then immediately applied in an exercise. The ontology is built incrementally across notebooks — each session picks up where the last left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2C2C2C"/>
                </a:solidFill>
              </a:rPr>
              <a:t>Upper-level
category from
SULO motivates
the modelling
</a:t>
            </a:r>
            <a:r>
              <a:rPr lang="en-US" b="0" i="0" dirty="0">
                <a:solidFill>
                  <a:srgbClr val="2C2C2C"/>
                </a:solidFill>
              </a:rPr>
              <a:t>approach</a:t>
            </a:r>
            <a:endParaRPr b="0" i="0" dirty="0">
              <a:solidFill>
                <a:srgbClr val="2C2C2C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9748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2C2C2C"/>
                </a:solidFill>
              </a:rPr>
              <a:t>owlready2
cell: declare
classes, axioms,
individuals in
Python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2C2C2C"/>
                </a:solidFill>
              </a:rPr>
              <a:t>HermiT or ELK
reasoner checks
consistency and
classifies
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2C2C2C"/>
                </a:solidFill>
              </a:rPr>
              <a:t>Query inferred
relations;
observe OWA
behaviour;
fix gaps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2057400"/>
            <a:ext cx="2194560" cy="43891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0704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Publish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154680"/>
            <a:ext cx="2011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</a:rPr>
              <a:t>Export, annotate,
push to OntoStart;
assess with
FOOPS!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Jupyter notebooks (owlready2)  ·  Protégé (optional)  ·  Python 3.10+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SULO?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9496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1325880"/>
            <a:ext cx="580644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120640" cy="3716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Why SULO?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 lightweight, carefully engineered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top-level ontology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Provides foundational categories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shared across all domains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Designed to be small enough to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learn in one session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Grounds domain ontologies in a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shared formal framework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Enables cross-domain interoperability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and reuse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Aligns with BFO, DOLCE, and other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upper-level ontologies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6AA8"/>
                </a:solidFill>
              </a:rPr>
              <a:t>Key SULO Classes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828800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87452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SpatialObject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20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 thing that exists in space (pizza, oven, box)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340864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238658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86584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An intrinsic feature (spiciness level)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852928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289864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898648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measured feature with numeric value (SHU)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364992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3410712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410712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 temporally extended event (baking, delivery)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3877056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3922776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922776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relational property played by an 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389120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80760" y="443484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434840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An entity whose function is to encode meaning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4901184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80760" y="494690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4946904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point on the timeline (order received)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5413248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545896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06AA8"/>
                </a:solidFill>
              </a:rPr>
              <a:t>Duration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458968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An elapsed time quantity (30-min delivery)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A6E3B-8D8A-1651-E75F-D6534A211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960320-9D9B-C669-0B95-0E050B0F29FA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D03A6-1099-C87D-0301-010F6ADC90EC}"/>
              </a:ext>
            </a:extLst>
          </p:cNvPr>
          <p:cNvSpPr txBox="1"/>
          <p:nvPr/>
        </p:nvSpPr>
        <p:spPr>
          <a:xfrm>
            <a:off x="411480" y="164592"/>
            <a:ext cx="114150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– a minimal upper level ontology for everyday modeling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616C1-A86C-94EF-608E-586902E13E3E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02F521-8392-8D97-ADF7-DAF21CF48711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Google Shape;156;p24">
            <a:extLst>
              <a:ext uri="{FF2B5EF4-FFF2-40B4-BE49-F238E27FC236}">
                <a16:creationId xmlns:a16="http://schemas.microsoft.com/office/drawing/2014/main" id="{B4F34E92-49B9-47D1-2919-D6D15579974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27667" y="1593166"/>
            <a:ext cx="3952287" cy="441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92;p27">
            <a:extLst>
              <a:ext uri="{FF2B5EF4-FFF2-40B4-BE49-F238E27FC236}">
                <a16:creationId xmlns:a16="http://schemas.microsoft.com/office/drawing/2014/main" id="{65E7A469-66CF-32BF-C207-0E5015952D0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58969" y="1519397"/>
            <a:ext cx="2992605" cy="4624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8841FD1-38DD-242C-C436-1C574689A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1174" y="1516199"/>
            <a:ext cx="2200388" cy="52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075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B9A5-DDAD-C786-C64A-2066A8531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2B9A3A-268E-9AAD-B543-61BEF8450003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AEA16-AC1F-2C0A-35A6-CEF37787DFD0}"/>
              </a:ext>
            </a:extLst>
          </p:cNvPr>
          <p:cNvSpPr txBox="1"/>
          <p:nvPr/>
        </p:nvSpPr>
        <p:spPr>
          <a:xfrm>
            <a:off x="411480" y="164592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fits on a postcard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9CE3C-2464-70FD-1537-997D2D7A7907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DD6564-C9FB-8B82-1370-1814A04ECF26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1AC252-3C69-3130-3B27-2BC0A850F046}"/>
              </a:ext>
            </a:extLst>
          </p:cNvPr>
          <p:cNvSpPr txBox="1"/>
          <p:nvPr/>
        </p:nvSpPr>
        <p:spPr>
          <a:xfrm>
            <a:off x="6080760" y="238658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7FA529-8144-4EC2-4879-EF8B1640CAF2}"/>
              </a:ext>
            </a:extLst>
          </p:cNvPr>
          <p:cNvSpPr txBox="1"/>
          <p:nvPr/>
        </p:nvSpPr>
        <p:spPr>
          <a:xfrm>
            <a:off x="6080760" y="289864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9CE2DA-06A8-E929-C01E-522F58E01E5E}"/>
              </a:ext>
            </a:extLst>
          </p:cNvPr>
          <p:cNvSpPr txBox="1"/>
          <p:nvPr/>
        </p:nvSpPr>
        <p:spPr>
          <a:xfrm>
            <a:off x="6080760" y="3410712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6372C1-C968-5CBA-0531-1E224395459E}"/>
              </a:ext>
            </a:extLst>
          </p:cNvPr>
          <p:cNvSpPr txBox="1"/>
          <p:nvPr/>
        </p:nvSpPr>
        <p:spPr>
          <a:xfrm>
            <a:off x="6080760" y="3922776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D4D730-DAA6-3FA2-808E-089798511C94}"/>
              </a:ext>
            </a:extLst>
          </p:cNvPr>
          <p:cNvSpPr txBox="1"/>
          <p:nvPr/>
        </p:nvSpPr>
        <p:spPr>
          <a:xfrm>
            <a:off x="6080760" y="443484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8B2549-3C88-6461-8122-A42DAD0CD5D5}"/>
              </a:ext>
            </a:extLst>
          </p:cNvPr>
          <p:cNvSpPr txBox="1"/>
          <p:nvPr/>
        </p:nvSpPr>
        <p:spPr>
          <a:xfrm>
            <a:off x="6080760" y="494690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440F10-755C-0BAA-7A7D-C5543311B81A}"/>
              </a:ext>
            </a:extLst>
          </p:cNvPr>
          <p:cNvSpPr txBox="1"/>
          <p:nvPr/>
        </p:nvSpPr>
        <p:spPr>
          <a:xfrm>
            <a:off x="6080760" y="545896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06AA8"/>
                </a:solidFill>
              </a:rPr>
              <a:t>Duration</a:t>
            </a:r>
          </a:p>
        </p:txBody>
      </p:sp>
      <p:pic>
        <p:nvPicPr>
          <p:cNvPr id="34" name="Google Shape;345;p41">
            <a:extLst>
              <a:ext uri="{FF2B5EF4-FFF2-40B4-BE49-F238E27FC236}">
                <a16:creationId xmlns:a16="http://schemas.microsoft.com/office/drawing/2014/main" id="{E326FC3B-ED2A-606D-FF83-C09E1824CE6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0251" y="1422762"/>
            <a:ext cx="9961017" cy="50000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4093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6E99E-850D-3FB7-46DB-B687D0D28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559310-4738-9B16-85EF-70F21EA3F570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48F7CE-56CA-3CEA-7876-C5143EB44328}"/>
              </a:ext>
            </a:extLst>
          </p:cNvPr>
          <p:cNvSpPr txBox="1"/>
          <p:nvPr/>
        </p:nvSpPr>
        <p:spPr>
          <a:xfrm>
            <a:off x="411480" y="164592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fits on a postcard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B24512-7BCE-AA0F-BDBE-A7070998B317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D5EA74-6A09-5D93-7B11-D1428B586756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oogle Shape;226;p31">
            <a:extLst>
              <a:ext uri="{FF2B5EF4-FFF2-40B4-BE49-F238E27FC236}">
                <a16:creationId xmlns:a16="http://schemas.microsoft.com/office/drawing/2014/main" id="{AB7C13D4-105D-2E06-AB47-CFF69ACA7092}"/>
              </a:ext>
            </a:extLst>
          </p:cNvPr>
          <p:cNvSpPr txBox="1">
            <a:spLocks/>
          </p:cNvSpPr>
          <p:nvPr/>
        </p:nvSpPr>
        <p:spPr>
          <a:xfrm>
            <a:off x="346120" y="1583577"/>
            <a:ext cx="5014854" cy="77793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600" dirty="0"/>
              <a:t>The Process-Role-Object (</a:t>
            </a:r>
            <a:r>
              <a:rPr lang="en-US" sz="1600" b="1" dirty="0"/>
              <a:t>PRO)</a:t>
            </a:r>
            <a:r>
              <a:rPr lang="en-US" sz="1600" dirty="0"/>
              <a:t> Ontology Design Pattern provides a way to represent </a:t>
            </a:r>
            <a:r>
              <a:rPr lang="en-US" sz="1600" i="1" dirty="0"/>
              <a:t>the time and manner in which </a:t>
            </a:r>
            <a:r>
              <a:rPr lang="en-US" sz="1600" b="1" dirty="0"/>
              <a:t>objects </a:t>
            </a:r>
            <a:r>
              <a:rPr lang="en-US" sz="1600" dirty="0"/>
              <a:t>participate in </a:t>
            </a:r>
            <a:r>
              <a:rPr lang="en-US" sz="1600" b="1" dirty="0"/>
              <a:t>processes </a:t>
            </a:r>
            <a:r>
              <a:rPr lang="en-US" sz="1600" dirty="0"/>
              <a:t>through participation </a:t>
            </a:r>
            <a:r>
              <a:rPr lang="en-US" sz="1600" b="1" dirty="0"/>
              <a:t>roles</a:t>
            </a:r>
            <a:r>
              <a:rPr lang="en-US" sz="16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33A3B6-5C47-4093-D892-D625392B4C4C}"/>
              </a:ext>
            </a:extLst>
          </p:cNvPr>
          <p:cNvSpPr txBox="1"/>
          <p:nvPr/>
        </p:nvSpPr>
        <p:spPr>
          <a:xfrm>
            <a:off x="5706919" y="1477312"/>
            <a:ext cx="61357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The SOLID pattern uses SULO’s single </a:t>
            </a:r>
            <a:r>
              <a:rPr lang="en-US" sz="1800" i="1" dirty="0"/>
              <a:t>functional </a:t>
            </a:r>
            <a:r>
              <a:rPr lang="en-US" sz="1800" dirty="0"/>
              <a:t>data property, </a:t>
            </a:r>
            <a:r>
              <a:rPr lang="en-US" sz="1800" b="1" dirty="0" err="1"/>
              <a:t>hasValue</a:t>
            </a:r>
            <a:r>
              <a:rPr lang="en-US" sz="1800" dirty="0"/>
              <a:t>, to assign a literal value to an </a:t>
            </a:r>
            <a:r>
              <a:rPr lang="en-US" sz="1800" dirty="0" err="1"/>
              <a:t>InformationObject</a:t>
            </a:r>
            <a:r>
              <a:rPr lang="en-US" sz="1800" dirty="0"/>
              <a:t>.  This strictly enforces the use of SULO properties, but may require new domain-specific classes.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D3433F-3AE5-1401-FEBF-C71BB59DBBCA}"/>
              </a:ext>
            </a:extLst>
          </p:cNvPr>
          <p:cNvSpPr txBox="1"/>
          <p:nvPr/>
        </p:nvSpPr>
        <p:spPr>
          <a:xfrm>
            <a:off x="275731" y="4305064"/>
            <a:ext cx="53927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dirty="0"/>
              <a:t>The role chain enables the inference of the object participant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F09D3C-E03E-2956-49F5-FE4BEF3283D9}"/>
              </a:ext>
            </a:extLst>
          </p:cNvPr>
          <p:cNvSpPr txBox="1"/>
          <p:nvPr/>
        </p:nvSpPr>
        <p:spPr>
          <a:xfrm>
            <a:off x="275731" y="2710647"/>
            <a:ext cx="539274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hasParticipant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some </a:t>
            </a:r>
          </a:p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Role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isFeatureOf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some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Font typeface="Arial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hasParticipant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isFeatureOf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hasParticipant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0FE136-7EFD-F59A-2829-691F95576377}"/>
              </a:ext>
            </a:extLst>
          </p:cNvPr>
          <p:cNvSpPr txBox="1"/>
          <p:nvPr/>
        </p:nvSpPr>
        <p:spPr>
          <a:xfrm>
            <a:off x="5706918" y="2713159"/>
            <a:ext cx="61357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hasTemperatureInCelcius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"27.5" .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:m1 a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sulo:Quantity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TemperatureMeasurement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sulo:hasValue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"27.5";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sulo:hasPart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Celsius_unit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sulo:refersTo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TemperatureQuality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sulo:hasFeature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:m1 .</a:t>
            </a:r>
          </a:p>
          <a:p>
            <a:pPr marL="0" indent="0">
              <a:spcBef>
                <a:spcPts val="0"/>
              </a:spcBef>
              <a:buFont typeface="Arial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536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OWL?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Web Ontology Language — the formal 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035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0" cy="3924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OWL in a Nutshell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W3C standard for knowledge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representation on the Semantic Web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Formally grounded in Description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Logics</a:t>
            </a:r>
            <a:r>
              <a:rPr lang="en-US" sz="2000" dirty="0">
                <a:solidFill>
                  <a:srgbClr val="2C2C2C"/>
                </a:solidFill>
              </a:rPr>
              <a:t>, </a:t>
            </a:r>
            <a:r>
              <a:rPr sz="2000" dirty="0">
                <a:solidFill>
                  <a:srgbClr val="2C2C2C"/>
                </a:solidFill>
              </a:rPr>
              <a:t> enables automated reasoning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Three constructs: Classes, Properties,
Individuals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Axioms describe necessary and/or
sufficient conditions for class membership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Reasoners (</a:t>
            </a:r>
            <a:r>
              <a:rPr sz="2000" dirty="0" err="1">
                <a:solidFill>
                  <a:srgbClr val="2C2C2C"/>
                </a:solidFill>
              </a:rPr>
              <a:t>HermiT</a:t>
            </a:r>
            <a:r>
              <a:rPr sz="2000" dirty="0">
                <a:solidFill>
                  <a:srgbClr val="2C2C2C"/>
                </a:solidFill>
              </a:rPr>
              <a:t>, ELK) check
consistency and infer new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417320"/>
            <a:ext cx="557784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Key Axiom Types Used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SubClassOf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every Pizza </a:t>
            </a:r>
            <a:r>
              <a:rPr dirty="0" err="1">
                <a:solidFill>
                  <a:srgbClr val="2C2C2C"/>
                </a:solidFill>
              </a:rPr>
              <a:t>hasDirectPart</a:t>
            </a:r>
            <a:r>
              <a:rPr dirty="0">
                <a:solidFill>
                  <a:srgbClr val="2C2C2C"/>
                </a:solidFill>
              </a:rPr>
              <a:t>  some </a:t>
            </a:r>
            <a:r>
              <a:rPr dirty="0" err="1">
                <a:solidFill>
                  <a:srgbClr val="2C2C2C"/>
                </a:solidFill>
              </a:rPr>
              <a:t>PizzaCrust</a:t>
            </a:r>
            <a:endParaRPr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EquivalentTo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</a:t>
            </a:r>
            <a:r>
              <a:rPr dirty="0" err="1">
                <a:solidFill>
                  <a:srgbClr val="2C2C2C"/>
                </a:solidFill>
              </a:rPr>
              <a:t>SpicyPizza</a:t>
            </a:r>
            <a:r>
              <a:rPr dirty="0">
                <a:solidFill>
                  <a:srgbClr val="2C2C2C"/>
                </a:solidFill>
              </a:rPr>
              <a:t> ≡ Pizza and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  </a:t>
            </a:r>
            <a:r>
              <a:rPr dirty="0" err="1">
                <a:solidFill>
                  <a:srgbClr val="2C2C2C"/>
                </a:solidFill>
              </a:rPr>
              <a:t>hasPart.some</a:t>
            </a:r>
            <a:r>
              <a:rPr dirty="0">
                <a:solidFill>
                  <a:srgbClr val="2C2C2C"/>
                </a:solidFill>
              </a:rPr>
              <a:t>(</a:t>
            </a:r>
            <a:r>
              <a:rPr dirty="0" err="1">
                <a:solidFill>
                  <a:srgbClr val="2C2C2C"/>
                </a:solidFill>
              </a:rPr>
              <a:t>hasFeature.some</a:t>
            </a:r>
            <a:r>
              <a:rPr dirty="0">
                <a:solidFill>
                  <a:srgbClr val="2C2C2C"/>
                </a:solidFill>
              </a:rPr>
              <a:t>(</a:t>
            </a:r>
            <a:r>
              <a:rPr dirty="0" err="1">
                <a:solidFill>
                  <a:srgbClr val="2C2C2C"/>
                </a:solidFill>
              </a:rPr>
              <a:t>SpicyHot</a:t>
            </a:r>
            <a:r>
              <a:rPr dirty="0">
                <a:solidFill>
                  <a:srgbClr val="2C2C2C"/>
                </a:solidFill>
              </a:rPr>
              <a:t>))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DisjointClasses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Mozzarella,  Salami, Basil cannot overlap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ObjectPropertyCharacteristics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</a:t>
            </a:r>
            <a:r>
              <a:rPr dirty="0" err="1">
                <a:solidFill>
                  <a:srgbClr val="2C2C2C"/>
                </a:solidFill>
              </a:rPr>
              <a:t>hasPart</a:t>
            </a:r>
            <a:r>
              <a:rPr dirty="0">
                <a:solidFill>
                  <a:srgbClr val="2C2C2C"/>
                </a:solidFill>
              </a:rPr>
              <a:t> is Transitive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AnnotationProperty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</a:t>
            </a:r>
            <a:r>
              <a:rPr dirty="0" err="1">
                <a:solidFill>
                  <a:srgbClr val="2C2C2C"/>
                </a:solidFill>
              </a:rPr>
              <a:t>rdfs:label</a:t>
            </a:r>
            <a:r>
              <a:rPr dirty="0">
                <a:solidFill>
                  <a:srgbClr val="2C2C2C"/>
                </a:solidFill>
              </a:rPr>
              <a:t>, </a:t>
            </a:r>
            <a:r>
              <a:rPr dirty="0" err="1">
                <a:solidFill>
                  <a:srgbClr val="2C2C2C"/>
                </a:solidFill>
              </a:rPr>
              <a:t>rdfs:comment</a:t>
            </a:r>
            <a:r>
              <a:rPr dirty="0">
                <a:solidFill>
                  <a:srgbClr val="2C2C2C"/>
                </a:solidFill>
              </a:rPr>
              <a:t>, </a:t>
            </a:r>
            <a:r>
              <a:rPr dirty="0" err="1">
                <a:solidFill>
                  <a:srgbClr val="2C2C2C"/>
                </a:solidFill>
              </a:rPr>
              <a:t>dc:creator</a:t>
            </a:r>
            <a:r>
              <a:rPr dirty="0">
                <a:solidFill>
                  <a:srgbClr val="2C2C2C"/>
                </a:solidFill>
              </a:rPr>
              <a:t>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owlready2?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Python library for OWL ontology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035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owlready2 at a Glance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Python library for loading, editing,
and reasoning over OWL ontologies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Natural Python syntax maps directly
to OWL axioms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Embeds the </a:t>
            </a:r>
            <a:r>
              <a:rPr sz="2000" dirty="0" err="1">
                <a:solidFill>
                  <a:srgbClr val="2C2C2C"/>
                </a:solidFill>
              </a:rPr>
              <a:t>HermiT</a:t>
            </a:r>
            <a:r>
              <a:rPr sz="2000" dirty="0">
                <a:solidFill>
                  <a:srgbClr val="2C2C2C"/>
                </a:solidFill>
              </a:rPr>
              <a:t> and ELK reasoners
(via JVM) — no separate install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Saves in RDF/XML; combine with
</a:t>
            </a:r>
            <a:r>
              <a:rPr sz="2000" dirty="0" err="1">
                <a:solidFill>
                  <a:srgbClr val="2C2C2C"/>
                </a:solidFill>
              </a:rPr>
              <a:t>rdflib</a:t>
            </a:r>
            <a:r>
              <a:rPr sz="2000" dirty="0">
                <a:solidFill>
                  <a:srgbClr val="2C2C2C"/>
                </a:solidFill>
              </a:rPr>
              <a:t> for Turtle export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Supports SPARQL queries over
the asserted graph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Active development; pip-installable;
widely used in 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53328" y="1371600"/>
            <a:ext cx="56235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C792EA"/>
                </a:solidFill>
                <a:latin typeface="Courier New"/>
              </a:rPr>
              <a:t>from owlready2 import *</a:t>
            </a:r>
          </a:p>
          <a:p>
            <a:endParaRPr sz="1200" dirty="0">
              <a:solidFill>
                <a:srgbClr val="C792EA"/>
              </a:solidFill>
              <a:latin typeface="Courier New"/>
            </a:endParaRPr>
          </a:p>
          <a:p>
            <a:r>
              <a:rPr sz="1200" dirty="0" err="1">
                <a:solidFill>
                  <a:srgbClr val="A6DA95"/>
                </a:solidFill>
                <a:latin typeface="Courier New"/>
              </a:rPr>
              <a:t>sulo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  =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get_ontology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('https://w3id.org/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sulo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/').load()</a:t>
            </a:r>
          </a:p>
          <a:p>
            <a:r>
              <a:rPr sz="1200" dirty="0">
                <a:solidFill>
                  <a:srgbClr val="A6DA95"/>
                </a:solidFill>
                <a:latin typeface="Courier New"/>
              </a:rPr>
              <a:t>pizza =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get_ontology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('https://w3id.org/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ontostart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/pizza/')</a:t>
            </a:r>
          </a:p>
          <a:p>
            <a:endParaRPr sz="1200" dirty="0">
              <a:solidFill>
                <a:srgbClr val="A6DA95"/>
              </a:solidFill>
              <a:latin typeface="Courier New"/>
            </a:endParaRPr>
          </a:p>
          <a:p>
            <a:r>
              <a:rPr sz="1200" dirty="0">
                <a:solidFill>
                  <a:srgbClr val="C792EA"/>
                </a:solidFill>
                <a:latin typeface="Courier New"/>
              </a:rPr>
              <a:t>with pizza:</a:t>
            </a:r>
          </a:p>
          <a:p>
            <a:r>
              <a:rPr sz="1200" dirty="0">
                <a:solidFill>
                  <a:srgbClr val="89DDFF"/>
                </a:solidFill>
                <a:latin typeface="Courier New"/>
              </a:rPr>
              <a:t>    class </a:t>
            </a:r>
            <a:r>
              <a:rPr sz="1200" dirty="0" err="1">
                <a:solidFill>
                  <a:srgbClr val="89DDFF"/>
                </a:solidFill>
                <a:latin typeface="Courier New"/>
              </a:rPr>
              <a:t>PizzaCrust</a:t>
            </a:r>
            <a:r>
              <a:rPr sz="1200" dirty="0">
                <a:solidFill>
                  <a:srgbClr val="89DDFF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89DDFF"/>
                </a:solidFill>
                <a:latin typeface="Courier New"/>
              </a:rPr>
              <a:t>sulo.SpatialObject</a:t>
            </a:r>
            <a:r>
              <a:rPr sz="1200" dirty="0">
                <a:solidFill>
                  <a:srgbClr val="89DDFF"/>
                </a:solidFill>
                <a:latin typeface="Courier New"/>
              </a:rPr>
              <a:t>):</a:t>
            </a:r>
          </a:p>
          <a:p>
            <a:r>
              <a:rPr sz="1200" dirty="0">
                <a:solidFill>
                  <a:srgbClr val="A6DA95"/>
                </a:solidFill>
                <a:latin typeface="Courier New"/>
              </a:rPr>
              <a:t>        label = [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locstr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('pizza crust', '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en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')]</a:t>
            </a:r>
          </a:p>
          <a:p>
            <a:endParaRPr sz="1200" dirty="0">
              <a:solidFill>
                <a:srgbClr val="A6DA95"/>
              </a:solidFill>
              <a:latin typeface="Courier New"/>
            </a:endParaRPr>
          </a:p>
          <a:p>
            <a:r>
              <a:rPr sz="1200" dirty="0">
                <a:solidFill>
                  <a:srgbClr val="89DDFF"/>
                </a:solidFill>
                <a:latin typeface="Courier New"/>
              </a:rPr>
              <a:t>    class Pizza(</a:t>
            </a:r>
            <a:r>
              <a:rPr sz="1200" dirty="0" err="1">
                <a:solidFill>
                  <a:srgbClr val="89DDFF"/>
                </a:solidFill>
                <a:latin typeface="Courier New"/>
              </a:rPr>
              <a:t>sulo.SpatialObject</a:t>
            </a:r>
            <a:r>
              <a:rPr sz="1200" dirty="0">
                <a:solidFill>
                  <a:srgbClr val="89DDFF"/>
                </a:solidFill>
                <a:latin typeface="Courier New"/>
              </a:rPr>
              <a:t>):</a:t>
            </a:r>
          </a:p>
          <a:p>
            <a:r>
              <a:rPr sz="1200" dirty="0">
                <a:solidFill>
                  <a:srgbClr val="A6DA95"/>
                </a:solidFill>
                <a:latin typeface="Courier New"/>
              </a:rPr>
              <a:t>       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is_a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 = [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sulo.hasDirectPart.exactly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(1,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PizzaCrust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)]</a:t>
            </a:r>
          </a:p>
          <a:p>
            <a:endParaRPr sz="1200" dirty="0">
              <a:solidFill>
                <a:srgbClr val="A6DA95"/>
              </a:solidFill>
              <a:latin typeface="Courier New"/>
            </a:endParaRPr>
          </a:p>
          <a:p>
            <a:r>
              <a:rPr sz="1200" dirty="0" err="1">
                <a:solidFill>
                  <a:srgbClr val="A6DA95"/>
                </a:solidFill>
                <a:latin typeface="Courier New"/>
              </a:rPr>
              <a:t>safe_call_reasoner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(pizza)   #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HermiT</a:t>
            </a:r>
            <a:endParaRPr sz="1200" dirty="0">
              <a:solidFill>
                <a:srgbClr val="A6DA95"/>
              </a:solidFill>
              <a:latin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Tutorial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8 notebooks · 4 hours · one growing ontology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1417320" cy="3592607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4173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C2C2C"/>
                </a:solidFill>
              </a:rPr>
              <a:t>Setup &amp;
Orientation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834640"/>
            <a:ext cx="12801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</a:rPr>
              <a:t>Load SULO, explore the
hierarchy, run reasoner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46504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1746504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92224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20240"/>
            <a:ext cx="12801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1A3A5C"/>
                </a:solidFill>
              </a:rPr>
              <a:t>Spatial Objects
&amp; Composition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18688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6440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Qualities &amp;
Quantities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Represent intrinsic characteristics (qualities) and their numeric measurements (quantities)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0872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90872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36592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4024" y="1920240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Processes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4023" y="2834640"/>
            <a:ext cx="138976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Represent processes with typed participants, how to distinguish identity-preserving from identity-destroying change, and how to assert sequential ordering of processes.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63056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08776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Information
Entities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34640"/>
            <a:ext cx="12801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What makes an information object ontologically distinct from a spatial object, how to relate to real world entities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635240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80960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92" y="1920240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2834640"/>
            <a:ext cx="12801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Model time instants, durations, and constrained durations, how to anchor processes to 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07424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107424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53144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576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Spatial
Containment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0575" y="2834640"/>
            <a:ext cx="133489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parthood vs containment, containment transitivity does not propagate into part-whole relations, model object moving between containers.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79608" y="1325880"/>
            <a:ext cx="1417320" cy="512064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579608" y="1325880"/>
            <a:ext cx="141732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62532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Deployment &amp;
FAIRness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834640"/>
            <a:ext cx="128016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2C2C2C"/>
                </a:solidFill>
              </a:rPr>
              <a:t>The ontology gets a
persistent IRI, full metadata,
FOOPS! </a:t>
            </a:r>
            <a:r>
              <a:rPr lang="en-US" sz="1400" dirty="0" err="1">
                <a:solidFill>
                  <a:srgbClr val="2C2C2C"/>
                </a:solidFill>
              </a:rPr>
              <a:t>FAIRness</a:t>
            </a:r>
            <a:r>
              <a:rPr lang="en-US" sz="1400" dirty="0">
                <a:solidFill>
                  <a:srgbClr val="2C2C2C"/>
                </a:solidFill>
              </a:rPr>
              <a:t> score.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← Reference / warmup                                    Core modelling notebooks →                                              FAIR publication →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EA74AC-3132-BDD3-6991-5F0DF0255EF4}"/>
              </a:ext>
            </a:extLst>
          </p:cNvPr>
          <p:cNvSpPr txBox="1"/>
          <p:nvPr/>
        </p:nvSpPr>
        <p:spPr>
          <a:xfrm>
            <a:off x="1746504" y="5135307"/>
            <a:ext cx="1353312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2C2C2C"/>
                </a:solidFill>
              </a:rPr>
              <a:t>A pizza has exactly 1 crust,
1 sauce, ≥1 toppings.
Parts have parts (dough, </a:t>
            </a:r>
            <a:r>
              <a:rPr sz="1100" b="0" i="0" dirty="0" err="1">
                <a:solidFill>
                  <a:srgbClr val="2C2C2C"/>
                </a:solidFill>
              </a:rPr>
              <a:t>cornicione</a:t>
            </a:r>
            <a:r>
              <a:rPr sz="1100" b="0" i="0" dirty="0">
                <a:solidFill>
                  <a:srgbClr val="2C2C2C"/>
                </a:solidFill>
              </a:rPr>
              <a:t>).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C0695D-0262-9706-370E-440DD7B4DB17}"/>
              </a:ext>
            </a:extLst>
          </p:cNvPr>
          <p:cNvSpPr txBox="1"/>
          <p:nvPr/>
        </p:nvSpPr>
        <p:spPr>
          <a:xfrm>
            <a:off x="3227832" y="5135307"/>
            <a:ext cx="135331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Spiciness is a quality.
</a:t>
            </a:r>
            <a:r>
              <a:rPr lang="en-US" sz="1100" dirty="0" err="1">
                <a:solidFill>
                  <a:srgbClr val="2C2C2C"/>
                </a:solidFill>
              </a:rPr>
              <a:t>SpicyHot</a:t>
            </a:r>
            <a:r>
              <a:rPr lang="en-US" sz="1100" dirty="0">
                <a:solidFill>
                  <a:srgbClr val="2C2C2C"/>
                </a:solidFill>
              </a:rPr>
              <a:t>, </a:t>
            </a:r>
            <a:r>
              <a:rPr lang="en-US" sz="1100" dirty="0" err="1">
                <a:solidFill>
                  <a:srgbClr val="2C2C2C"/>
                </a:solidFill>
              </a:rPr>
              <a:t>SpicyMedium</a:t>
            </a:r>
            <a:r>
              <a:rPr lang="en-US" sz="1100" dirty="0">
                <a:solidFill>
                  <a:srgbClr val="2C2C2C"/>
                </a:solidFill>
              </a:rPr>
              <a:t>, </a:t>
            </a:r>
            <a:r>
              <a:rPr lang="en-US" sz="1100" dirty="0" err="1">
                <a:solidFill>
                  <a:srgbClr val="2C2C2C"/>
                </a:solidFill>
              </a:rPr>
              <a:t>SpicyMild</a:t>
            </a:r>
            <a:r>
              <a:rPr lang="en-US" sz="1100" dirty="0">
                <a:solidFill>
                  <a:srgbClr val="2C2C2C"/>
                </a:solidFill>
              </a:rPr>
              <a:t>
are disjoint categorical levels.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F5B394-0057-0D03-9A83-5B6D0B286EA5}"/>
              </a:ext>
            </a:extLst>
          </p:cNvPr>
          <p:cNvSpPr txBox="1"/>
          <p:nvPr/>
        </p:nvSpPr>
        <p:spPr>
          <a:xfrm>
            <a:off x="4722876" y="5135307"/>
            <a:ext cx="135331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Making dough transforms
flour + water → dough.
Baking is a developmental process.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274755-0D07-8AED-A5F1-ABBF4BA7E752}"/>
              </a:ext>
            </a:extLst>
          </p:cNvPr>
          <p:cNvSpPr txBox="1"/>
          <p:nvPr/>
        </p:nvSpPr>
        <p:spPr>
          <a:xfrm>
            <a:off x="6144768" y="5135307"/>
            <a:ext cx="13533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nl-NL" sz="1100" dirty="0">
                <a:solidFill>
                  <a:srgbClr val="2C2C2C"/>
                </a:solidFill>
              </a:rPr>
              <a:t>A pizza order </a:t>
            </a:r>
            <a:r>
              <a:rPr lang="nl-NL" sz="1100" dirty="0" err="1">
                <a:solidFill>
                  <a:srgbClr val="2C2C2C"/>
                </a:solidFill>
              </a:rPr>
              <a:t>refers</a:t>
            </a:r>
            <a:r>
              <a:rPr lang="nl-NL" sz="1100" dirty="0">
                <a:solidFill>
                  <a:srgbClr val="2C2C2C"/>
                </a:solidFill>
              </a:rPr>
              <a:t> </a:t>
            </a:r>
            <a:r>
              <a:rPr lang="nl-NL" sz="1100" dirty="0" err="1">
                <a:solidFill>
                  <a:srgbClr val="2C2C2C"/>
                </a:solidFill>
              </a:rPr>
              <a:t>to</a:t>
            </a:r>
            <a:r>
              <a:rPr lang="nl-NL" sz="1100" dirty="0">
                <a:solidFill>
                  <a:srgbClr val="2C2C2C"/>
                </a:solidFill>
              </a:rPr>
              <a:t> a pizza.
A </a:t>
            </a:r>
            <a:r>
              <a:rPr lang="nl-NL" sz="1100" dirty="0" err="1">
                <a:solidFill>
                  <a:srgbClr val="2C2C2C"/>
                </a:solidFill>
              </a:rPr>
              <a:t>receipt</a:t>
            </a:r>
            <a:r>
              <a:rPr lang="nl-NL" sz="1100" dirty="0">
                <a:solidFill>
                  <a:srgbClr val="2C2C2C"/>
                </a:solidFill>
              </a:rPr>
              <a:t> records a </a:t>
            </a:r>
            <a:r>
              <a:rPr lang="nl-NL" sz="1100" dirty="0" err="1">
                <a:solidFill>
                  <a:srgbClr val="2C2C2C"/>
                </a:solidFill>
              </a:rPr>
              <a:t>payment</a:t>
            </a:r>
            <a:r>
              <a:rPr lang="nl-NL" sz="1100" dirty="0">
                <a:solidFill>
                  <a:srgbClr val="2C2C2C"/>
                </a:solidFill>
              </a:rPr>
              <a:t>.
A </a:t>
            </a:r>
            <a:r>
              <a:rPr lang="nl-NL" sz="1100" dirty="0" err="1">
                <a:solidFill>
                  <a:srgbClr val="2C2C2C"/>
                </a:solidFill>
              </a:rPr>
              <a:t>recipe</a:t>
            </a:r>
            <a:r>
              <a:rPr lang="nl-NL" sz="1100" dirty="0">
                <a:solidFill>
                  <a:srgbClr val="2C2C2C"/>
                </a:solidFill>
              </a:rPr>
              <a:t> </a:t>
            </a:r>
            <a:r>
              <a:rPr lang="nl-NL" sz="1100" dirty="0" err="1">
                <a:solidFill>
                  <a:srgbClr val="2C2C2C"/>
                </a:solidFill>
              </a:rPr>
              <a:t>describes</a:t>
            </a:r>
            <a:r>
              <a:rPr lang="nl-NL" sz="1100" dirty="0">
                <a:solidFill>
                  <a:srgbClr val="2C2C2C"/>
                </a:solidFill>
              </a:rPr>
              <a:t> a </a:t>
            </a:r>
            <a:r>
              <a:rPr lang="nl-NL" sz="1100" dirty="0" err="1">
                <a:solidFill>
                  <a:srgbClr val="2C2C2C"/>
                </a:solidFill>
              </a:rPr>
              <a:t>process</a:t>
            </a:r>
            <a:r>
              <a:rPr lang="nl-NL" sz="1100" dirty="0">
                <a:solidFill>
                  <a:srgbClr val="2C2C2C"/>
                </a:solidFill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BC77D6-79E1-B01E-569F-7633EE396F72}"/>
              </a:ext>
            </a:extLst>
          </p:cNvPr>
          <p:cNvSpPr txBox="1"/>
          <p:nvPr/>
        </p:nvSpPr>
        <p:spPr>
          <a:xfrm>
            <a:off x="7635240" y="5135307"/>
            <a:ext cx="13533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Order received → baking starts
→ baking ends → delivered.
Express delivery ≤ 30 min.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826F3B-7735-91EB-980C-F30741C5BBD6}"/>
              </a:ext>
            </a:extLst>
          </p:cNvPr>
          <p:cNvSpPr txBox="1"/>
          <p:nvPr/>
        </p:nvSpPr>
        <p:spPr>
          <a:xfrm>
            <a:off x="9089009" y="5135307"/>
            <a:ext cx="135331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Pizza is in the oven.
Oven contains box contains pizza.
Containment ≠ parthood.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B55ED4-AE1B-B51E-93E8-0270733F82D3}"/>
              </a:ext>
            </a:extLst>
          </p:cNvPr>
          <p:cNvSpPr txBox="1"/>
          <p:nvPr/>
        </p:nvSpPr>
        <p:spPr>
          <a:xfrm>
            <a:off x="1837880" y="2826116"/>
            <a:ext cx="129851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Declare OWL classes, </a:t>
            </a:r>
            <a:r>
              <a:rPr lang="en-US" sz="1200" dirty="0" err="1"/>
              <a:t>organise</a:t>
            </a:r>
            <a:r>
              <a:rPr lang="en-US" sz="1200" dirty="0"/>
              <a:t> them into a hierarchy, and express necessary and/or sufficient conditions for class membership using part-whole composition.</a:t>
            </a:r>
          </a:p>
        </p:txBody>
      </p:sp>
      <p:pic>
        <p:nvPicPr>
          <p:cNvPr id="54" name="Picture 53" descr="Pizza - Free food icons">
            <a:extLst>
              <a:ext uri="{FF2B5EF4-FFF2-40B4-BE49-F238E27FC236}">
                <a16:creationId xmlns:a16="http://schemas.microsoft.com/office/drawing/2014/main" id="{804EBC44-DB23-0BAA-73DC-6CC9AE25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47" y="5309667"/>
            <a:ext cx="843658" cy="8436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You Will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126480" y="132588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212080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🎁  Tangible Deliverables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 complete, reasoned OWL ontology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of the pizza domain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Published at your own persistent IRI
https://w3id.org/ontostart/pizza-{</a:t>
            </a:r>
            <a:r>
              <a:rPr lang="en-US" sz="2000" dirty="0">
                <a:solidFill>
                  <a:srgbClr val="2C2C2C"/>
                </a:solidFill>
              </a:rPr>
              <a:t>username</a:t>
            </a:r>
            <a:r>
              <a:rPr sz="2000" dirty="0">
                <a:solidFill>
                  <a:srgbClr val="2C2C2C"/>
                </a:solidFill>
              </a:rPr>
              <a:t>}/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Documented with DC, VANN, PAV,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DCAT, FOAF, MOD metadata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Assessed by FOOPS! with a score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you can improve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Version-controlled on GitHub with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auto-generated HTML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394960" cy="3577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🧠  Skills &amp; Knowledge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End-to-end FAIR ontology workflow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SULO design patterns for any domain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owlready2 Python proficiency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Reading and acting on reasoner output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Reading FOOPS! reports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OntoStart</a:t>
            </a:r>
            <a:r>
              <a:rPr sz="2000" dirty="0">
                <a:solidFill>
                  <a:srgbClr val="2C2C2C"/>
                </a:solidFill>
              </a:rPr>
              <a:t> as a project template for
your next ontology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Critical awareness of OWA and its
consequences for modelling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Half-day · 4 hours · May 10/11,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8686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344168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325880"/>
            <a:ext cx="274320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134416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325880"/>
            <a:ext cx="40690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06240" y="1344168"/>
            <a:ext cx="3977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325880"/>
            <a:ext cx="356616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34416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Notebook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7335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170078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10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67335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17007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Tutorial 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67335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170078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Introduction and goals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67335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17007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199339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202082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10 </a:t>
            </a:r>
            <a:r>
              <a:rPr sz="1100" b="0" i="0" dirty="0">
                <a:solidFill>
                  <a:srgbClr val="2C2C2C"/>
                </a:solidFill>
              </a:rPr>
              <a:t>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199339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1600" y="202082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Reference Materials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160520" y="199339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240" y="202082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OWL, SULO, and </a:t>
            </a:r>
            <a:r>
              <a:rPr lang="en-US" sz="1100" b="0" i="0" dirty="0" err="1">
                <a:solidFill>
                  <a:srgbClr val="2C2C2C"/>
                </a:solidFill>
              </a:rPr>
              <a:t>owlready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321040" y="199339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66760" y="2020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231343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234086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40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" y="231343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371600" y="234086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Spatial Objects &amp; Composition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160520" y="231343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0" y="234086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100">
                <a:solidFill>
                  <a:srgbClr val="2C2C2C"/>
                </a:solidFill>
              </a:rPr>
              <a:t>hasPart, cardinality, OWA</a:t>
            </a:r>
            <a:endParaRPr lang="nl-NL" sz="1100" dirty="0">
              <a:solidFill>
                <a:srgbClr val="2C2C2C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321040" y="231343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66760" y="23408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5760" y="263347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266090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15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263347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71600" y="266090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Qualities &amp; Quantities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160520" y="263347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06240" y="266090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 err="1">
                <a:solidFill>
                  <a:srgbClr val="2C2C2C"/>
                </a:solidFill>
              </a:rPr>
              <a:t>refersTo</a:t>
            </a:r>
            <a:endParaRPr lang="nl-NL" sz="1100" b="0" i="0" dirty="0">
              <a:solidFill>
                <a:srgbClr val="2C2C2C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321040" y="263347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2660904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NB 0</a:t>
            </a:r>
            <a:r>
              <a:rPr lang="en-US" sz="1100" b="0" i="0" dirty="0">
                <a:solidFill>
                  <a:srgbClr val="2C2C2C"/>
                </a:solidFill>
              </a:rPr>
              <a:t>2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65760" y="295351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80" y="298094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dirty="0">
                <a:solidFill>
                  <a:srgbClr val="2C2C2C"/>
                </a:solidFill>
              </a:rPr>
              <a:t>5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5351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1600" y="2984510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Process I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160520" y="295351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06240" y="298094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Transformation, development, participation roles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8321040" y="295351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66760" y="2980944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NB 0</a:t>
            </a:r>
            <a:r>
              <a:rPr lang="en-US" sz="1100" b="0" i="0" dirty="0">
                <a:solidFill>
                  <a:srgbClr val="2C2C2C"/>
                </a:solidFill>
              </a:rPr>
              <a:t>3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365760" y="359359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" y="362102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30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25880" y="359359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371600" y="362102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Process II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160520" y="359359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206240" y="362102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Parts, precedes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8321040" y="359359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366760" y="36210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91363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1480" y="394106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b="0" i="0" dirty="0">
                <a:solidFill>
                  <a:srgbClr val="2C2C2C"/>
                </a:solidFill>
              </a:rPr>
              <a:t>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325880" y="391363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371600" y="394106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Information entities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60520" y="391363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206240" y="394106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orders, receipts, identity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391363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366760" y="39410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6974" y="3263715"/>
            <a:ext cx="86868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66974" y="3298111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E67E22"/>
                </a:solidFill>
              </a:rPr>
              <a:t>30</a:t>
            </a:r>
            <a:r>
              <a:rPr sz="1100" b="1" i="0" dirty="0">
                <a:solidFill>
                  <a:srgbClr val="E67E22"/>
                </a:solidFill>
              </a:rPr>
              <a:t> min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7094" y="3263715"/>
            <a:ext cx="274320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327094" y="3298111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</a:rPr>
              <a:t>BREAK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1734" y="3263715"/>
            <a:ext cx="406908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61734" y="3298111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dirty="0"/>
          </a:p>
        </p:txBody>
      </p:sp>
      <p:sp>
        <p:nvSpPr>
          <p:cNvPr id="84" name="Rectangle 83"/>
          <p:cNvSpPr/>
          <p:nvPr/>
        </p:nvSpPr>
        <p:spPr>
          <a:xfrm>
            <a:off x="8322254" y="3263715"/>
            <a:ext cx="356616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322254" y="32981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365760" y="4213848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80" y="424128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b="0" i="0" dirty="0">
                <a:solidFill>
                  <a:srgbClr val="2C2C2C"/>
                </a:solidFill>
              </a:rPr>
              <a:t>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213848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371600" y="42412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Time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4213848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206240" y="4241280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instants, durations, timelines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1040" y="4213848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366760" y="4241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533888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11480" y="456132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b="0" i="0" dirty="0">
                <a:solidFill>
                  <a:srgbClr val="2C2C2C"/>
                </a:solidFill>
              </a:rPr>
              <a:t>0 </a:t>
            </a:r>
            <a:r>
              <a:rPr sz="1100" b="0" i="0" dirty="0">
                <a:solidFill>
                  <a:srgbClr val="2C2C2C"/>
                </a:solidFill>
              </a:rPr>
              <a:t>min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4533888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371600" y="45613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Spatial containment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60520" y="4533888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206240" y="4561320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contains vs hasPart, SPARQL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21040" y="4533888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366760" y="45613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4853928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11480" y="488136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20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25880" y="4853928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1371600" y="4881360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2C2C2C"/>
                </a:solidFill>
              </a:rPr>
              <a:t>OntoStart</a:t>
            </a:r>
            <a:r>
              <a:rPr sz="1100" b="0" i="0" dirty="0">
                <a:solidFill>
                  <a:srgbClr val="2C2C2C"/>
                </a:solidFill>
              </a:rPr>
              <a:t> </a:t>
            </a:r>
            <a:r>
              <a:rPr lang="en-US" sz="1100" b="0" i="0" dirty="0">
                <a:solidFill>
                  <a:srgbClr val="2C2C2C"/>
                </a:solidFill>
              </a:rPr>
              <a:t>&amp; </a:t>
            </a:r>
            <a:r>
              <a:rPr lang="en-US" sz="1100" b="0" i="0" dirty="0" err="1">
                <a:solidFill>
                  <a:srgbClr val="2C2C2C"/>
                </a:solidFill>
              </a:rPr>
              <a:t>FAIRness</a:t>
            </a:r>
            <a:r>
              <a:rPr lang="en-US" sz="1100" b="0" i="0" dirty="0">
                <a:solidFill>
                  <a:srgbClr val="2C2C2C"/>
                </a:solidFill>
              </a:rPr>
              <a:t> assessment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4160520" y="4853928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206240" y="4881360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metadata, export, GitHub</a:t>
            </a:r>
            <a:r>
              <a:rPr lang="en-US" sz="1100" b="0" i="0" dirty="0">
                <a:solidFill>
                  <a:srgbClr val="2C2C2C"/>
                </a:solidFill>
              </a:rPr>
              <a:t>, FOOPS!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8321040" y="4853928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8366760" y="48813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5173968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1325880" y="5173968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4160520" y="5173968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8321040" y="5173968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11480" y="5209898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10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71600" y="52303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Q&amp;A + wrap-up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206240" y="5209898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Modelling discussion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4D6CDC4-9E58-FC5D-26A8-1268496DBFAD}"/>
              </a:ext>
            </a:extLst>
          </p:cNvPr>
          <p:cNvSpPr txBox="1"/>
          <p:nvPr/>
        </p:nvSpPr>
        <p:spPr>
          <a:xfrm>
            <a:off x="8366760" y="234534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NB 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Tools: OntoStart &amp; FOOPS!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The publication and quality-assessment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0" y="132588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212080" cy="4670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🚀  </a:t>
            </a:r>
            <a:r>
              <a:rPr sz="2000" b="1" dirty="0" err="1">
                <a:solidFill>
                  <a:srgbClr val="206AA8"/>
                </a:solidFill>
              </a:rPr>
              <a:t>OntoStart</a:t>
            </a:r>
            <a:endParaRPr sz="2000" b="1" dirty="0">
              <a:solidFill>
                <a:srgbClr val="206AA8"/>
              </a:solidFill>
            </a:endParaRP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GitHub repository template for
FAIR ontology projects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Push a branch → GitHub Actions
automatically: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Validates OWL DL profile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Converts to RDF/XML, Turtle,
    JSON-LD, N-Triples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Generates HTML documentation
    (</a:t>
            </a:r>
            <a:r>
              <a:rPr sz="1600" dirty="0" err="1">
                <a:solidFill>
                  <a:srgbClr val="2C2C2C"/>
                </a:solidFill>
              </a:rPr>
              <a:t>Ontospy</a:t>
            </a:r>
            <a:r>
              <a:rPr sz="1600" dirty="0">
                <a:solidFill>
                  <a:srgbClr val="2C2C2C"/>
                </a:solidFill>
              </a:rPr>
              <a:t>, </a:t>
            </a:r>
            <a:r>
              <a:rPr sz="1600" dirty="0" err="1">
                <a:solidFill>
                  <a:srgbClr val="2C2C2C"/>
                </a:solidFill>
              </a:rPr>
              <a:t>PyLODE</a:t>
            </a:r>
            <a:r>
              <a:rPr sz="1600" dirty="0">
                <a:solidFill>
                  <a:srgbClr val="2C2C2C"/>
                </a:solidFill>
              </a:rPr>
              <a:t>)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Runs FOOPS! and publishes
    a </a:t>
            </a:r>
            <a:r>
              <a:rPr sz="1600" dirty="0" err="1">
                <a:solidFill>
                  <a:srgbClr val="2C2C2C"/>
                </a:solidFill>
              </a:rPr>
              <a:t>FAIRness</a:t>
            </a:r>
            <a:r>
              <a:rPr sz="1600" dirty="0">
                <a:solidFill>
                  <a:srgbClr val="2C2C2C"/>
                </a:solidFill>
              </a:rPr>
              <a:t> badge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Deploys to GitHub Pages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Serves ontology at w3id.org with
full content negotiation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github.com/</a:t>
            </a:r>
            <a:r>
              <a:rPr sz="1600" dirty="0" err="1">
                <a:solidFill>
                  <a:srgbClr val="2C2C2C"/>
                </a:solidFill>
              </a:rPr>
              <a:t>micheldumontier</a:t>
            </a:r>
            <a:r>
              <a:rPr sz="1600" dirty="0">
                <a:solidFill>
                  <a:srgbClr val="2C2C2C"/>
                </a:solidFill>
              </a:rPr>
              <a:t>/</a:t>
            </a:r>
            <a:r>
              <a:rPr sz="1600" dirty="0" err="1">
                <a:solidFill>
                  <a:srgbClr val="2C2C2C"/>
                </a:solidFill>
              </a:rPr>
              <a:t>ontostart</a:t>
            </a:r>
            <a:endParaRPr sz="1600" dirty="0">
              <a:solidFill>
                <a:srgbClr val="2C2C2C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94960" cy="4170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✅  FOOPS! </a:t>
            </a:r>
            <a:r>
              <a:rPr sz="2400" b="1" dirty="0" err="1">
                <a:solidFill>
                  <a:srgbClr val="206AA8"/>
                </a:solidFill>
              </a:rPr>
              <a:t>FAIRness</a:t>
            </a:r>
            <a:r>
              <a:rPr sz="2400" b="1" dirty="0">
                <a:solidFill>
                  <a:srgbClr val="206AA8"/>
                </a:solidFill>
              </a:rPr>
              <a:t> Checker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Automated FAIR ontology assessment
tool by OEG-UPM (Madrid)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Checks 24 indicators across all
four FAIR dimensions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Key checks: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F: persistent URI, version IRI, namespace prefix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A: content negotiation, HTML documentation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I: standard vocabularies reused, OWL/RDF </a:t>
            </a:r>
            <a:r>
              <a:rPr dirty="0" err="1">
                <a:solidFill>
                  <a:srgbClr val="2C2C2C"/>
                </a:solidFill>
              </a:rPr>
              <a:t>serialisation</a:t>
            </a:r>
            <a:endParaRPr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R: title, description, license, creator, labels, definitions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Available at: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foops.linkeddata.es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94960" y="731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C2C2C"/>
                </a:solidFill>
              </a:rPr>
              <a:t>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Let's Get Started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6EAF8"/>
                </a:solidFill>
              </a:rPr>
              <a:t>Open Jupyter Lab and run notebook 00-SULO-tutorial-setup.ipynb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ACCEE"/>
                </a:solidFill>
              </a:rPr>
              <a:t>github.com/micheldumontier/sulo-tutorial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CC"/>
                </a:solidFill>
              </a:rPr>
              <a:t>Questions?  →  michel.dumontier@maastrichtuniversity.nl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</TotalTime>
  <Words>1910</Words>
  <Application>Microsoft Office PowerPoint</Application>
  <PresentationFormat>Custom</PresentationFormat>
  <Paragraphs>285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Michel Dumontier</cp:lastModifiedBy>
  <cp:revision>4</cp:revision>
  <dcterms:created xsi:type="dcterms:W3CDTF">2013-01-27T09:14:16Z</dcterms:created>
  <dcterms:modified xsi:type="dcterms:W3CDTF">2026-05-09T17:35:19Z</dcterms:modified>
  <cp:category/>
</cp:coreProperties>
</file>