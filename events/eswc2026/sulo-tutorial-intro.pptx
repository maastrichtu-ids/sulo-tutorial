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88952" cy="7315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FAIR Ontology Engineering with SULO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23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D6EAF8"/>
                </a:solidFill>
              </a:rPr>
              <a:t>A Hands-On Tutorial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D6EAF8"/>
                </a:solidFill>
              </a:rPr>
              <a:t>ESWC 2026  ·  May 10/11,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5204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AACCEE"/>
                </a:solidFill>
              </a:rPr>
              <a:t>Michel Dumontier  ·  Remzi Celebi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31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8AACC"/>
                </a:solidFill>
              </a:rPr>
              <a:t>Maastricht University  ·  Department of Advanced Computing Sciences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303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E0E0E0"/>
                </a:solidFill>
              </a:rPr>
              <a:t>🍕  The pizza domain as a vehicle for principled ontology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The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AF8"/>
                </a:solidFill>
              </a:rPr>
              <a:t>Why does this tutorial exist?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3566160" cy="502920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0" y="1371600"/>
            <a:ext cx="3566160" cy="502920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863840" y="1371600"/>
            <a:ext cx="3931920" cy="502920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463040"/>
            <a:ext cx="3291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06AA8"/>
                </a:solidFill>
              </a:rPr>
              <a:t>⚠  Engineering Quality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Ontologies are re-invented
from scratch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Inconsistent use of upper-level concepts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Ad hoc class/property naming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Missing or wrong axioms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Hard to reason over reliably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1463040"/>
            <a:ext cx="3291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06AA8"/>
                </a:solidFill>
              </a:rPr>
              <a:t>⚠  FAIRness Gaps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No stable IRI / version IRI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Missing metadata (title,
license, creator…)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Terms lack rdfs:label
and rdfs:comment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Not registered in any
catalogue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Not reproducible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1463040"/>
            <a:ext cx="3657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06AA8"/>
                </a:solidFill>
              </a:rPr>
              <a:t>⚠  Tooling &amp; Training Gap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Learners need end-to-end
workflow guidance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Upper ontologies are
under-used in teaching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Few tutorials connect
modelling → publishing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No practical template for
FAIR ontology projects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Goals &amp; Learning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371600"/>
            <a:ext cx="5486400" cy="51206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26480" y="1371600"/>
            <a:ext cx="5669280" cy="512064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5212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6AA8"/>
                </a:solidFill>
              </a:rPr>
              <a:t>Domain Modelling with SULO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Master SULO's categories and
design patterns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Distinguish parts, features, roles,
capabilities, processes, quantities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Translate conceptual models
into OWL axioms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Validate designs with automated
reasoning (HermiT / ELK)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86200"/>
            <a:ext cx="5212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6AA8"/>
                </a:solidFill>
              </a:rPr>
              <a:t>FAIR Publication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Add FAIR metadata to an ontology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Export to RDF/XML and Turtle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Publish with OntoStart CI/CD
pipeline to a persistent IRI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Interpret FOOPS! FAIRness reports
and close gaps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463040"/>
            <a:ext cx="53949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6AA8"/>
                </a:solidFill>
              </a:rPr>
              <a:t>What Participants Take Home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End-to-end workflow: idea → axiom
→ reasoning → publication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Practical owlready2 skills for
programmatic ontology engineering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Design patterns you can reuse in
your own domain ontology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A ready-to-use FAIR ontology
template (OntoStart)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Critical understanding of the
Open World Assumption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Ability to read and act on
automated quality reports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AF8"/>
                </a:solidFill>
              </a:rPr>
              <a:t>How the tutorial 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2588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555555"/>
                </a:solidFill>
              </a:rPr>
              <a:t>Every concept is introduced through a worked pizza example, then immediately applied in an exercise. The ontology is built incrementally across notebooks — each session picks up where the last left off.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2057400"/>
            <a:ext cx="2194560" cy="438912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14884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2C2C2C"/>
                </a:solidFill>
              </a:rPr>
              <a:t>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6974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3A5C"/>
                </a:solidFill>
              </a:rPr>
              <a:t>Concept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154680"/>
            <a:ext cx="2011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C2C2C"/>
                </a:solidFill>
              </a:rPr>
              <a:t>Upper-level
category from
SULO motivates
the modelling
choice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97480" y="2057400"/>
            <a:ext cx="2194560" cy="438912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214884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2C2C2C"/>
                </a:solidFill>
              </a:rPr>
              <a:t>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6974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3A5C"/>
                </a:solidFill>
              </a:rPr>
              <a:t>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3154680"/>
            <a:ext cx="2011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C2C2C"/>
                </a:solidFill>
              </a:rPr>
              <a:t>owlready2
cell: declare
classes, axioms,
individuals in
Python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74920" y="2057400"/>
            <a:ext cx="2194560" cy="438912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160" y="214884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2C2C2C"/>
                </a:solidFill>
              </a:rPr>
              <a:t>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26974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3A5C"/>
                </a:solidFill>
              </a:rPr>
              <a:t>Reason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66360" y="3154680"/>
            <a:ext cx="2011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C2C2C"/>
                </a:solidFill>
              </a:rPr>
              <a:t>HermiT or ELK
reasoner checks
consistency and
classifies
terms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52360" y="2057400"/>
            <a:ext cx="2194560" cy="438912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214884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2C2C2C"/>
                </a:solidFill>
              </a:rPr>
              <a:t>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0" y="26974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A3A5C"/>
                </a:solidFill>
              </a:rPr>
              <a:t>Verify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3154680"/>
            <a:ext cx="2011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2C2C2C"/>
                </a:solidFill>
              </a:rPr>
              <a:t>Query inferred
relations;
observe OWA
behaviour;
fix gaps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829800" y="2057400"/>
            <a:ext cx="2194560" cy="4389120"/>
          </a:xfrm>
          <a:prstGeom prst="rect">
            <a:avLst/>
          </a:prstGeom>
          <a:solidFill>
            <a:srgbClr val="206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0" y="214884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2C2C2C"/>
                </a:solidFill>
              </a:rPr>
              <a:t>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0" y="26974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Publish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40" y="3154680"/>
            <a:ext cx="2011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Export, annotate,
push to OntoStart;
assess with
FOOPS!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0" y="35661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206AA8"/>
                </a:solidFill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7760" y="35661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206AA8"/>
                </a:solidFill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35661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206AA8"/>
                </a:solidFill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35661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206AA8"/>
                </a:solidFill>
              </a:rP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00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555555"/>
                </a:solidFill>
              </a:rPr>
              <a:t>Jupyter notebooks (owlready2)  ·  Protégé (optional)  ·  Python 3.10+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What is OWL?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AF8"/>
                </a:solidFill>
              </a:rPr>
              <a:t>Web Ontology Language — the formal backbone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5303520" cy="51206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0" y="1325880"/>
            <a:ext cx="5852160" cy="512064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50292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06AA8"/>
                </a:solidFill>
              </a:rPr>
              <a:t>OWL in a Nutshell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W3C standard for knowledge
representation on the Semantic Web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Formally grounded in Description
Logics — enables automated reasoning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Three constructs: Classes, Properties,
Individuals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Axioms describe necessary and/or
sufficient conditions for class membership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Reasoners (HermiT, ELK) check
consistency and infer new facts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417320"/>
            <a:ext cx="55778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06AA8"/>
                </a:solidFill>
              </a:rPr>
              <a:t>Key Axiom Types Used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C2C2C"/>
                </a:solidFill>
              </a:rPr>
              <a:t>▸ SubClassOf — every Pizza hasDirectPart
  some PizzaCrust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C2C2C"/>
                </a:solidFill>
              </a:rPr>
              <a:t>▸ EquivalentTo — SpicyPizza ≡ Pizza and
  hasPart.some(hasFeature.some(SpicyHot))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C2C2C"/>
                </a:solidFill>
              </a:rPr>
              <a:t>▸ DisjointClasses — Mozzarella,
  Salami, Basil cannot overlap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C2C2C"/>
                </a:solidFill>
              </a:rPr>
              <a:t>▸ ObjectPropertyCharacteristics —
  hasPart is Transitive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C2C2C"/>
                </a:solidFill>
              </a:rPr>
              <a:t>▸ AnnotationProperty — rdfs:label,
  rdfs:comment, dc:creator…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3093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1">
                <a:solidFill>
                  <a:srgbClr val="E67E22"/>
                </a:solidFill>
              </a:rPr>
              <a:t>Open World Assumption: the absence of information is not the same as false — you must explicitly state what is not the case.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What is SULO?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AF8"/>
                </a:solidFill>
              </a:rPr>
              <a:t>Simplified Upper Level Ontology — https://w3id.org/sulo/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5394960" cy="51206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89320" y="1325880"/>
            <a:ext cx="5806440" cy="512064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51206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06AA8"/>
                </a:solidFill>
              </a:rPr>
              <a:t>Why SULO?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A lightweight, carefully engineered
top-level ontology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Provides foundational categories
shared across all domains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Designed to be small enough to
learn in one session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Grounds domain ontologies in a
shared formal framework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Enables cross-domain interoperability
and reuse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Aligns with BFO, DOLCE, and other
upper-level ontologies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417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06AA8"/>
                </a:solidFill>
              </a:rPr>
              <a:t>Key SULO Classes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1828800"/>
            <a:ext cx="5806440" cy="493776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874520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06AA8"/>
                </a:solidFill>
              </a:rPr>
              <a:t>SpatialObject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1874520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</a:rPr>
              <a:t>A thing that exists in space (pizza, oven, box)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89320" y="2340864"/>
            <a:ext cx="580644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2386584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06AA8"/>
                </a:solidFill>
              </a:rPr>
              <a:t>Quality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2386584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</a:rPr>
              <a:t>An intrinsic feature (spiciness level)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89320" y="2852928"/>
            <a:ext cx="5806440" cy="493776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80760" y="2898648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06AA8"/>
                </a:solidFill>
              </a:rPr>
              <a:t>Quantity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20" y="2898648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</a:rPr>
              <a:t>A measured feature with numeric value (SHU)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3364992"/>
            <a:ext cx="580644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60" y="3410712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06AA8"/>
                </a:solidFill>
              </a:rPr>
              <a:t>Process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3410712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</a:rPr>
              <a:t>A temporally extended event (baking, delivery)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89320" y="3877056"/>
            <a:ext cx="5806440" cy="493776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80760" y="3922776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06AA8"/>
                </a:solidFill>
              </a:rPr>
              <a:t>Role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18120" y="3922776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</a:rPr>
              <a:t>A relational property played by an entity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89320" y="4389120"/>
            <a:ext cx="580644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80760" y="4434840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06AA8"/>
                </a:solidFill>
              </a:rPr>
              <a:t>InformationObject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8120" y="4434840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</a:rPr>
              <a:t>An entity whose function is to encode meaning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89320" y="4901184"/>
            <a:ext cx="5806440" cy="493776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0760" y="4946904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06AA8"/>
                </a:solidFill>
              </a:rPr>
              <a:t>TimeInstant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18120" y="4946904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</a:rPr>
              <a:t>A point on the timeline (order received)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89320" y="5413248"/>
            <a:ext cx="5806440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80760" y="5458968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06AA8"/>
                </a:solidFill>
              </a:rPr>
              <a:t>Duration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18120" y="5458968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2C2C"/>
                </a:solidFill>
              </a:rPr>
              <a:t>An elapsed time quantity (30-min delivery)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What is owlready2?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AF8"/>
                </a:solidFill>
              </a:rPr>
              <a:t>Python library for OWL ontology engineering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5303520" cy="51206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0" y="1325880"/>
            <a:ext cx="5852160" cy="512064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50292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06AA8"/>
                </a:solidFill>
              </a:rPr>
              <a:t>owlready2 at a Glance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Python library for loading, editing,
and reasoning over OWL ontologies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Natural Python syntax maps directly
to OWL axioms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Embeds the HermiT and ELK reasoners
(via JVM) — no separate install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Saves in RDF/XML; combine with
rdflib for Turtle export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Supports SPARQL queries over
the asserted graph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Active development; pip-installable;
widely used in research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1325880"/>
            <a:ext cx="5852160" cy="51206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53328" y="1371600"/>
            <a:ext cx="562356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C792EA"/>
                </a:solidFill>
                <a:latin typeface="Courier New"/>
              </a:rPr>
              <a:t>from owlready2 import *</a:t>
            </a:r>
          </a:p>
          <a:p>
            <a:r>
              <a:rPr sz="1200">
                <a:solidFill>
                  <a:srgbClr val="CAD3F5"/>
                </a:solidFill>
                <a:latin typeface="Courier New"/>
              </a:rPr>
              <a:t/>
            </a:r>
          </a:p>
          <a:p>
            <a:r>
              <a:rPr sz="1200">
                <a:solidFill>
                  <a:srgbClr val="A6DA95"/>
                </a:solidFill>
                <a:latin typeface="Courier New"/>
              </a:rPr>
              <a:t>sulo  = get_ontology('https://w3id.org/sulo/').load()</a:t>
            </a:r>
          </a:p>
          <a:p>
            <a:r>
              <a:rPr sz="1200">
                <a:solidFill>
                  <a:srgbClr val="A6DA95"/>
                </a:solidFill>
                <a:latin typeface="Courier New"/>
              </a:rPr>
              <a:t>pizza = get_ontology('https://w3id.org/ontostart/pizza/')</a:t>
            </a:r>
          </a:p>
          <a:p>
            <a:r>
              <a:rPr sz="1200">
                <a:solidFill>
                  <a:srgbClr val="CAD3F5"/>
                </a:solidFill>
                <a:latin typeface="Courier New"/>
              </a:rPr>
              <a:t/>
            </a:r>
          </a:p>
          <a:p>
            <a:r>
              <a:rPr sz="1200">
                <a:solidFill>
                  <a:srgbClr val="C792EA"/>
                </a:solidFill>
                <a:latin typeface="Courier New"/>
              </a:rPr>
              <a:t>with pizza:</a:t>
            </a:r>
          </a:p>
          <a:p>
            <a:r>
              <a:rPr sz="1200">
                <a:solidFill>
                  <a:srgbClr val="89DDFF"/>
                </a:solidFill>
                <a:latin typeface="Courier New"/>
              </a:rPr>
              <a:t>    class PizzaCrust(sulo.SpatialObject):</a:t>
            </a:r>
          </a:p>
          <a:p>
            <a:r>
              <a:rPr sz="1200">
                <a:solidFill>
                  <a:srgbClr val="A6DA95"/>
                </a:solidFill>
                <a:latin typeface="Courier New"/>
              </a:rPr>
              <a:t>        label = [locstr('pizza crust', 'en')]</a:t>
            </a:r>
          </a:p>
          <a:p>
            <a:r>
              <a:rPr sz="1200">
                <a:solidFill>
                  <a:srgbClr val="CAD3F5"/>
                </a:solidFill>
                <a:latin typeface="Courier New"/>
              </a:rPr>
              <a:t/>
            </a:r>
          </a:p>
          <a:p>
            <a:r>
              <a:rPr sz="1200">
                <a:solidFill>
                  <a:srgbClr val="89DDFF"/>
                </a:solidFill>
                <a:latin typeface="Courier New"/>
              </a:rPr>
              <a:t>    class Pizza(sulo.SpatialObject):</a:t>
            </a:r>
          </a:p>
          <a:p>
            <a:r>
              <a:rPr sz="1200">
                <a:solidFill>
                  <a:srgbClr val="A6DA95"/>
                </a:solidFill>
                <a:latin typeface="Courier New"/>
              </a:rPr>
              <a:t>        is_a = [sulo.hasDirectPart.exactly(1, PizzaCrust)]</a:t>
            </a:r>
          </a:p>
          <a:p>
            <a:r>
              <a:rPr sz="1200">
                <a:solidFill>
                  <a:srgbClr val="CAD3F5"/>
                </a:solidFill>
                <a:latin typeface="Courier New"/>
              </a:rPr>
              <a:t/>
            </a:r>
          </a:p>
          <a:p>
            <a:r>
              <a:rPr sz="1200">
                <a:solidFill>
                  <a:srgbClr val="A6DA95"/>
                </a:solidFill>
                <a:latin typeface="Courier New"/>
              </a:rPr>
              <a:t>safe_call_reasoner(pizza)   # HermiT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Tutorial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AF8"/>
                </a:solidFill>
              </a:rPr>
              <a:t>8 notebooks · 4 hours · one growing ontology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325880"/>
            <a:ext cx="1417320" cy="512064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325880"/>
            <a:ext cx="1417320" cy="5029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37160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NB 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920240"/>
            <a:ext cx="1280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C2C2C"/>
                </a:solidFill>
              </a:rPr>
              <a:t>Setup &amp;
Orientation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" y="2834640"/>
            <a:ext cx="1280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555"/>
                </a:solidFill>
              </a:rPr>
              <a:t>Load SULO, explore the
hierarchy, run reasoner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46504" y="1325880"/>
            <a:ext cx="1417320" cy="51206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46504" y="1325880"/>
            <a:ext cx="1417320" cy="502920"/>
          </a:xfrm>
          <a:prstGeom prst="rect">
            <a:avLst/>
          </a:prstGeom>
          <a:solidFill>
            <a:srgbClr val="206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92224" y="137160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NB 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20240"/>
            <a:ext cx="1280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3A5C"/>
                </a:solidFill>
              </a:rPr>
              <a:t>Spatial Objects
&amp; Composition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19656" y="2834640"/>
            <a:ext cx="1280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555"/>
                </a:solidFill>
              </a:rPr>
              <a:t>hasPart, hasDirectPart,
defined classes, OWA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18688" y="1325880"/>
            <a:ext cx="1417320" cy="51206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18688" y="1325880"/>
            <a:ext cx="1417320" cy="502920"/>
          </a:xfrm>
          <a:prstGeom prst="rect">
            <a:avLst/>
          </a:prstGeom>
          <a:solidFill>
            <a:srgbClr val="206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64408" y="137160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NB 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1920240"/>
            <a:ext cx="1280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3A5C"/>
                </a:solidFill>
              </a:rPr>
              <a:t>Qualities &amp;
Quantities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2834640"/>
            <a:ext cx="1280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555"/>
                </a:solidFill>
              </a:rPr>
              <a:t>Spiciness, SHU, constrained
datatypes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90872" y="1325880"/>
            <a:ext cx="1417320" cy="51206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90872" y="1325880"/>
            <a:ext cx="1417320" cy="502920"/>
          </a:xfrm>
          <a:prstGeom prst="rect">
            <a:avLst/>
          </a:prstGeom>
          <a:solidFill>
            <a:srgbClr val="206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36592" y="137160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NB 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64024" y="1920240"/>
            <a:ext cx="1280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3A5C"/>
                </a:solidFill>
              </a:rPr>
              <a:t>Processes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64024" y="2834640"/>
            <a:ext cx="1280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555"/>
                </a:solidFill>
              </a:rPr>
              <a:t>Transformation, development,
roles, temporal order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63056" y="1325880"/>
            <a:ext cx="1417320" cy="51206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63056" y="1325880"/>
            <a:ext cx="1417320" cy="502920"/>
          </a:xfrm>
          <a:prstGeom prst="rect">
            <a:avLst/>
          </a:prstGeom>
          <a:solidFill>
            <a:srgbClr val="206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08776" y="137160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NB 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6208" y="1920240"/>
            <a:ext cx="1280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3A5C"/>
                </a:solidFill>
              </a:rPr>
              <a:t>Information
Entities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6208" y="2834640"/>
            <a:ext cx="1280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555"/>
                </a:solidFill>
              </a:rPr>
              <a:t>Orders, receipts, identity,
refersTo, recipes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35240" y="1325880"/>
            <a:ext cx="1417320" cy="51206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635240" y="1325880"/>
            <a:ext cx="1417320" cy="502920"/>
          </a:xfrm>
          <a:prstGeom prst="rect">
            <a:avLst/>
          </a:prstGeom>
          <a:solidFill>
            <a:srgbClr val="206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0" y="137160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NB 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08392" y="1920240"/>
            <a:ext cx="1280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3A5C"/>
                </a:solidFill>
              </a:rPr>
              <a:t>Time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08392" y="2834640"/>
            <a:ext cx="1280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555"/>
                </a:solidFill>
              </a:rPr>
              <a:t>Time instants, durations,
timeline, classification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07424" y="1325880"/>
            <a:ext cx="1417320" cy="51206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107424" y="1325880"/>
            <a:ext cx="1417320" cy="502920"/>
          </a:xfrm>
          <a:prstGeom prst="rect">
            <a:avLst/>
          </a:prstGeom>
          <a:solidFill>
            <a:srgbClr val="206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53144" y="137160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NB 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80576" y="1920240"/>
            <a:ext cx="1280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3A5C"/>
                </a:solidFill>
              </a:rPr>
              <a:t>Spatial
Containment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80576" y="2834640"/>
            <a:ext cx="1280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555"/>
                </a:solidFill>
              </a:rPr>
              <a:t>contains vs hasPart,
BoxedPizza, SPARQL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579608" y="1325880"/>
            <a:ext cx="1417320" cy="5120640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579608" y="1325880"/>
            <a:ext cx="1417320" cy="5029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625328" y="137160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NB 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52760" y="1920240"/>
            <a:ext cx="1280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3A5C"/>
                </a:solidFill>
              </a:rPr>
              <a:t>Deployment &amp;
FAIRness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52760" y="2834640"/>
            <a:ext cx="1280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5555"/>
                </a:solidFill>
              </a:rPr>
              <a:t>Metadata, export, OntoStart,
FOOPS! assessment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74320" y="640080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</a:rPr>
              <a:t>← Reference / warmup                                    Core modelling notebooks →                                              FAIR publication →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Why Pizza?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AF8"/>
                </a:solidFill>
              </a:rPr>
              <a:t>A rich, familiar domain for systematic ontology engineering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9844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555555"/>
                </a:solidFill>
              </a:rPr>
              <a:t>The pizza domain is deliberately simple enough to follow without domain expertise, yet rich enough to demonstrate every major representational challenge in applied ontology.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965960"/>
            <a:ext cx="1463040" cy="44348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" y="2029968"/>
            <a:ext cx="13533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3A5C"/>
                </a:solidFill>
              </a:rPr>
              <a:t>🧩 Composition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2560320"/>
            <a:ext cx="135331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C2C2C"/>
                </a:solidFill>
              </a:rPr>
              <a:t>A pizza has exactly 1 crust,
1 sauce, ≥1 toppings.
Parts have parts (dough, cornicione).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28216" y="1965960"/>
            <a:ext cx="1463040" cy="44348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92224" y="2029968"/>
            <a:ext cx="13533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3A5C"/>
                </a:solidFill>
              </a:rPr>
              <a:t>🌶 Quality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92224" y="2560320"/>
            <a:ext cx="135331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C2C2C"/>
                </a:solidFill>
              </a:rPr>
              <a:t>Spiciness is a quality.
SpicyHot, SpicyMedium, SpicyMild
are disjoint categorical levels.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27832" y="1965960"/>
            <a:ext cx="1463040" cy="44348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1840" y="2029968"/>
            <a:ext cx="13533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3A5C"/>
                </a:solidFill>
              </a:rPr>
              <a:t>📏 Quantity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560320"/>
            <a:ext cx="135331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C2C2C"/>
                </a:solidFill>
              </a:rPr>
              <a:t>Scoville Heat Units measure
spiciness numerically.
Constrained datatypes define ranges.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27448" y="1965960"/>
            <a:ext cx="1463040" cy="44348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1456" y="2029968"/>
            <a:ext cx="13533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3A5C"/>
                </a:solidFill>
              </a:rPr>
              <a:t>⚙  Process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1456" y="2560320"/>
            <a:ext cx="135331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C2C2C"/>
                </a:solidFill>
              </a:rPr>
              <a:t>Making dough transforms
flour + water → dough.
Baking is a developmental process.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27064" y="1965960"/>
            <a:ext cx="1463040" cy="44348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1072" y="2029968"/>
            <a:ext cx="13533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3A5C"/>
                </a:solidFill>
              </a:rPr>
              <a:t>📋 Information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91072" y="2560320"/>
            <a:ext cx="135331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C2C2C"/>
                </a:solidFill>
              </a:rPr>
              <a:t>A pizza order refers to a pizza.
A receipt records a payment.
A recipe describes a process.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26680" y="1965960"/>
            <a:ext cx="1463040" cy="44348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90688" y="2029968"/>
            <a:ext cx="13533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3A5C"/>
                </a:solidFill>
              </a:rPr>
              <a:t>⏱ Time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90688" y="2560320"/>
            <a:ext cx="135331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C2C2C"/>
                </a:solidFill>
              </a:rPr>
              <a:t>Order received → baking starts
→ baking ends → delivered.
Express delivery ≤ 30 min.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26296" y="1965960"/>
            <a:ext cx="1463040" cy="44348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90304" y="2029968"/>
            <a:ext cx="13533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3A5C"/>
                </a:solidFill>
              </a:rPr>
              <a:t>📦 Containment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0304" y="2560320"/>
            <a:ext cx="135331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C2C2C"/>
                </a:solidFill>
              </a:rPr>
              <a:t>Pizza is in the oven.
Oven contains box contains pizza.
Containment ≠ parthood.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725912" y="1965960"/>
            <a:ext cx="1463040" cy="4434840"/>
          </a:xfrm>
          <a:prstGeom prst="rect">
            <a:avLst/>
          </a:prstGeom>
          <a:solidFill>
            <a:srgbClr val="FFF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789920" y="2029968"/>
            <a:ext cx="13533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3A5C"/>
                </a:solidFill>
              </a:rPr>
              <a:t>🚀 Publication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0" y="2560320"/>
            <a:ext cx="135331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2C2C2C"/>
                </a:solidFill>
              </a:rPr>
              <a:t>The ontology gets a
persistent IRI, full metadata,
FOOPS! FAIRness score.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What You Will Leave With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325880"/>
            <a:ext cx="5486400" cy="51206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26480" y="1325880"/>
            <a:ext cx="5669280" cy="512064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17320"/>
            <a:ext cx="52120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06AA8"/>
                </a:solidFill>
              </a:rPr>
              <a:t>🎁  Tangible Deliverables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A complete, reasoned OWL ontology
of the pizza domain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Published at your own persistent IRI
https://w3id.org/ontostart/pizza-{you}/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Documented with DC, VANN, PAV,
DCAT, FOAF, MOD metadata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Assessed by FOOPS! with a score
you can improve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Version-controlled on GitHub with
auto-generated HTML documentation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4173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06AA8"/>
                </a:solidFill>
              </a:rPr>
              <a:t>🧠  Skills &amp; Knowledge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End-to-end FAIR ontology workflow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SULO design patterns for any domain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owlready2 Python proficiency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Reading and acting on reasoner output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Reading FOOPS! reports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OntoStart as a project template for
your next ontology</a:t>
            </a:r>
          </a:p>
          <a:p>
            <a:pPr algn="l">
              <a:spcBef>
                <a:spcPts val="300"/>
              </a:spcBef>
            </a:pPr>
            <a:r>
              <a:rPr sz="1400">
                <a:solidFill>
                  <a:srgbClr val="2C2C2C"/>
                </a:solidFill>
              </a:rPr>
              <a:t>▸ Critical awareness of OWA and its
consequences for modelling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AF8"/>
                </a:solidFill>
              </a:rPr>
              <a:t>Half-day · 4 hours · May 10/11,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868680" cy="34747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344168"/>
            <a:ext cx="777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1325880" y="1325880"/>
            <a:ext cx="2743200" cy="34747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1344168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Activity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60520" y="1325880"/>
            <a:ext cx="4069080" cy="34747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0" y="1344168"/>
            <a:ext cx="3977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Content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1040" y="1325880"/>
            <a:ext cx="3566160" cy="34747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344168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Notebook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673352"/>
            <a:ext cx="86868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1700784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5 min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25880" y="1673352"/>
            <a:ext cx="274320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170078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Tutorial overview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1673352"/>
            <a:ext cx="406908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0" y="1700784"/>
            <a:ext cx="3977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Introduction and goals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21040" y="1673352"/>
            <a:ext cx="356616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60" y="170078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1993392"/>
            <a:ext cx="8686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020824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10 min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25880" y="1993392"/>
            <a:ext cx="27432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0" y="202082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What is an ontology?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60520" y="1993392"/>
            <a:ext cx="40690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06240" y="2020824"/>
            <a:ext cx="3977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OWL, SULO, and the pizza domain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21040" y="1993392"/>
            <a:ext cx="356616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66760" y="202082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/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2313432"/>
            <a:ext cx="86868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2340864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15 min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25880" y="2313432"/>
            <a:ext cx="274320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0" y="234086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Declarations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60520" y="2313432"/>
            <a:ext cx="406908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06240" y="2340864"/>
            <a:ext cx="3977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Classes, individuals, imports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321040" y="2313432"/>
            <a:ext cx="356616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66760" y="234086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/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2633472"/>
            <a:ext cx="8686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2660904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20 min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25880" y="2633472"/>
            <a:ext cx="27432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371600" y="266090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Spatial objects &amp; composition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60520" y="2633472"/>
            <a:ext cx="40690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06240" y="2660904"/>
            <a:ext cx="3977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hasPart, cardinality, OWA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321040" y="2633472"/>
            <a:ext cx="356616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66760" y="266090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NB 01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2953512"/>
            <a:ext cx="86868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2980944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15 min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325880" y="2953512"/>
            <a:ext cx="274320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71600" y="298094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Qualities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60520" y="2953512"/>
            <a:ext cx="406908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06240" y="2980944"/>
            <a:ext cx="3977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categorical qualities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321040" y="2953512"/>
            <a:ext cx="356616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66760" y="298094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NB 02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273552"/>
            <a:ext cx="8686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11480" y="3300984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15 min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325880" y="3273552"/>
            <a:ext cx="27432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371600" y="330098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Quantities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160520" y="3273552"/>
            <a:ext cx="40690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206240" y="3300984"/>
            <a:ext cx="3977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SHU, constrained datatypes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321040" y="3273552"/>
            <a:ext cx="356616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366760" y="330098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NB 02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593592"/>
            <a:ext cx="86868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11480" y="3621024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30 min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325880" y="3593592"/>
            <a:ext cx="274320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371600" y="362102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Processes, parts &amp; roles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60520" y="3593592"/>
            <a:ext cx="406908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206240" y="3621024"/>
            <a:ext cx="3977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transformation, development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321040" y="3593592"/>
            <a:ext cx="356616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366760" y="362102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NB 03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3913632"/>
            <a:ext cx="8686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11480" y="3941064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15 min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325880" y="3913632"/>
            <a:ext cx="27432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371600" y="394106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Information entities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160520" y="3913632"/>
            <a:ext cx="40690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206240" y="3941064"/>
            <a:ext cx="3977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orders, receipts, identity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321040" y="3913632"/>
            <a:ext cx="356616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366760" y="394106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NB 04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4233672"/>
            <a:ext cx="868680" cy="320040"/>
          </a:xfrm>
          <a:prstGeom prst="rect">
            <a:avLst/>
          </a:prstGeom>
          <a:solidFill>
            <a:srgbClr val="FFE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11480" y="4261104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67E22"/>
                </a:solidFill>
              </a:rPr>
              <a:t>15 min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325880" y="4233672"/>
            <a:ext cx="2743200" cy="320040"/>
          </a:xfrm>
          <a:prstGeom prst="rect">
            <a:avLst/>
          </a:prstGeom>
          <a:solidFill>
            <a:srgbClr val="FFE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371600" y="426110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67E22"/>
                </a:solidFill>
              </a:rPr>
              <a:t>BREAK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160520" y="4233672"/>
            <a:ext cx="4069080" cy="320040"/>
          </a:xfrm>
          <a:prstGeom prst="rect">
            <a:avLst/>
          </a:prstGeom>
          <a:solidFill>
            <a:srgbClr val="FFE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206240" y="4261104"/>
            <a:ext cx="3977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67E22"/>
                </a:solidFill>
              </a:rPr>
              <a:t/>
            </a:r>
          </a:p>
        </p:txBody>
      </p:sp>
      <p:sp>
        <p:nvSpPr>
          <p:cNvPr id="84" name="Rectangle 83"/>
          <p:cNvSpPr/>
          <p:nvPr/>
        </p:nvSpPr>
        <p:spPr>
          <a:xfrm>
            <a:off x="8321040" y="4233672"/>
            <a:ext cx="3566160" cy="320040"/>
          </a:xfrm>
          <a:prstGeom prst="rect">
            <a:avLst/>
          </a:prstGeom>
          <a:solidFill>
            <a:srgbClr val="FFE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366760" y="426110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67E22"/>
                </a:solidFill>
              </a:rPr>
              <a:t/>
            </a:r>
          </a:p>
        </p:txBody>
      </p:sp>
      <p:sp>
        <p:nvSpPr>
          <p:cNvPr id="86" name="Rectangle 85"/>
          <p:cNvSpPr/>
          <p:nvPr/>
        </p:nvSpPr>
        <p:spPr>
          <a:xfrm>
            <a:off x="365760" y="4553712"/>
            <a:ext cx="8686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11480" y="4581144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15 min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325880" y="4553712"/>
            <a:ext cx="27432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371600" y="458114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Time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160520" y="4553712"/>
            <a:ext cx="40690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206240" y="4581144"/>
            <a:ext cx="3977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instants, durations, timelines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321040" y="4553712"/>
            <a:ext cx="356616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366760" y="458114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NB 05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65760" y="4873752"/>
            <a:ext cx="86868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11480" y="4901184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15 min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325880" y="4873752"/>
            <a:ext cx="274320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371600" y="490118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Spatial containment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160520" y="4873752"/>
            <a:ext cx="406908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206240" y="4901184"/>
            <a:ext cx="3977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contains vs hasPart, SPARQL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321040" y="4873752"/>
            <a:ext cx="356616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366760" y="490118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NB 06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65760" y="5193792"/>
            <a:ext cx="8686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11480" y="5221224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15 min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325880" y="5193792"/>
            <a:ext cx="27432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371600" y="522122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OntoStart deployment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160520" y="5193792"/>
            <a:ext cx="40690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206240" y="5221224"/>
            <a:ext cx="3977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metadata, export, GitHub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321040" y="5193792"/>
            <a:ext cx="356616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366760" y="522122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NB 07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65760" y="5513832"/>
            <a:ext cx="86868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11480" y="5541264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10 min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325880" y="5513832"/>
            <a:ext cx="274320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371600" y="554126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FAIRness assessment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160520" y="5513832"/>
            <a:ext cx="406908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206240" y="5541264"/>
            <a:ext cx="3977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FOOPS! report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321040" y="5513832"/>
            <a:ext cx="3566160" cy="3200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366760" y="554126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NB 07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5833872"/>
            <a:ext cx="8686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11480" y="5861304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30 min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325880" y="5833872"/>
            <a:ext cx="27432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371600" y="5861304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Q&amp;A + wrap-up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4160520" y="5833872"/>
            <a:ext cx="406908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4206240" y="5861304"/>
            <a:ext cx="3977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>Modelling discussion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321040" y="5833872"/>
            <a:ext cx="356616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366760" y="586130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2C2C"/>
                </a:solidFill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Tools: OntoStart &amp; FOOPS!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0467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AF8"/>
                </a:solidFill>
              </a:rPr>
              <a:t>The publication and quality-assessment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5486400" cy="51206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126480" y="1325880"/>
            <a:ext cx="5669280" cy="512064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52120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06AA8"/>
                </a:solidFill>
              </a:rPr>
              <a:t>🚀  OntoStart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C2C2C"/>
                </a:solidFill>
              </a:rPr>
              <a:t>▸ GitHub repository template for
FAIR ontology projects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C2C2C"/>
                </a:solidFill>
              </a:rPr>
              <a:t>▸ Push a branch → GitHub Actions
automatically: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C2C2C"/>
                </a:solidFill>
              </a:rPr>
              <a:t>▸   · Validates OWL DL profile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C2C2C"/>
                </a:solidFill>
              </a:rPr>
              <a:t>▸   · Converts to RDF/XML, Turtle,
    JSON-LD, N-Triples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C2C2C"/>
                </a:solidFill>
              </a:rPr>
              <a:t>▸   · Generates HTML documentation
    (Ontospy, PyLODE)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C2C2C"/>
                </a:solidFill>
              </a:rPr>
              <a:t>▸   · Runs FOOPS! and publishes
    a FAIRness badge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C2C2C"/>
                </a:solidFill>
              </a:rPr>
              <a:t>▸   · Deploys to GitHub Pages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C2C2C"/>
                </a:solidFill>
              </a:rPr>
              <a:t>▸ Serves ontology at w3id.org with
full content negotiation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C2C2C"/>
                </a:solidFill>
              </a:rPr>
              <a:t>▸ github.com/micheldumontier/ontostart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4173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06AA8"/>
                </a:solidFill>
              </a:rPr>
              <a:t>✅  FOOPS! FAIRness Checker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C2C2C"/>
                </a:solidFill>
              </a:rPr>
              <a:t>▸ Automated FAIR ontology assessment
tool by OEG-UPM (Madrid)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C2C2C"/>
                </a:solidFill>
              </a:rPr>
              <a:t>▸ Checks 24 indicators across all
four FAIR dimensions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C2C2C"/>
                </a:solidFill>
              </a:rPr>
              <a:t>▸ Key checks: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C2C2C"/>
                </a:solidFill>
              </a:rPr>
              <a:t>▸   · F: persistent URI, version IRI,
    namespace prefix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C2C2C"/>
                </a:solidFill>
              </a:rPr>
              <a:t>▸   · A: content negotiation,
    HTML documentation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C2C2C"/>
                </a:solidFill>
              </a:rPr>
              <a:t>▸   · I: standard vocabularies reused,
    OWL/RDF serialisation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C2C2C"/>
                </a:solidFill>
              </a:rPr>
              <a:t>▸   · R: title, description, license,
    creator, labels, definitions</a:t>
            </a:r>
          </a:p>
          <a:p>
            <a:pPr algn="l">
              <a:spcBef>
                <a:spcPts val="300"/>
              </a:spcBef>
            </a:pPr>
            <a:r>
              <a:rPr sz="1300">
                <a:solidFill>
                  <a:srgbClr val="2C2C2C"/>
                </a:solidFill>
              </a:rPr>
              <a:t>▸ Available at:
foops.linkeddata.es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Additional Resources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325880"/>
            <a:ext cx="2834640" cy="51206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697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06AA8"/>
                </a:solidFill>
              </a:rPr>
              <a:t>SULO &amp; This Tutorial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2C2C"/>
                </a:solidFill>
              </a:rPr>
              <a:t>SULO ontology:  w3id.org/sulo/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2C2C"/>
                </a:solidFill>
              </a:rPr>
              <a:t>Tutorial repo:  github.com/micheldumontier/sulo-tutorial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2C2C"/>
                </a:solidFill>
              </a:rPr>
              <a:t>OntoStart:  github.com/micheldumontier/ontostart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2C2C"/>
                </a:solidFill>
              </a:rPr>
              <a:t>SULO paper:  doi.org/10.XXXX/sulo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325880"/>
            <a:ext cx="2834640" cy="512064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0" y="1371600"/>
            <a:ext cx="2697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06AA8"/>
                </a:solidFill>
              </a:rPr>
              <a:t>OWL &amp; Ontology Engineering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2C2C"/>
                </a:solidFill>
              </a:rPr>
              <a:t>OWL 2 Primer (W3C):  w3.org/TR/owl2-primer/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2C2C"/>
                </a:solidFill>
              </a:rPr>
              <a:t>OWL 2 Quick Reference:  w3.org/TR/owl2-quick-reference/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2C2C"/>
                </a:solidFill>
              </a:rPr>
              <a:t>Protégé editor:  protege.stanford.edu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2C2C"/>
                </a:solidFill>
              </a:rPr>
              <a:t>Original Pizza Tutorial:  co-ode.org/ontologies/pizza/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325880"/>
            <a:ext cx="2834640" cy="51206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371600"/>
            <a:ext cx="2697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06AA8"/>
                </a:solidFill>
              </a:rPr>
              <a:t>Tools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2C2C"/>
                </a:solidFill>
              </a:rPr>
              <a:t>owlready2 docs:  owlready2.readthedocs.io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2C2C"/>
                </a:solidFill>
              </a:rPr>
              <a:t>rdflib:  rdflib.readthedocs.io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2C2C"/>
                </a:solidFill>
              </a:rPr>
              <a:t>FOOPS!:  foops.linkeddata.es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2C2C"/>
                </a:solidFill>
              </a:rPr>
              <a:t>ROBOT:  robot.obolibrary.org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2C2C"/>
                </a:solidFill>
              </a:rPr>
              <a:t>HermiT reasoner:  hermit-reasoner.com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0" y="1325880"/>
            <a:ext cx="2834640" cy="5120640"/>
          </a:xfrm>
          <a:prstGeom prst="rect">
            <a:avLst/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1371600"/>
            <a:ext cx="2697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06AA8"/>
                </a:solidFill>
              </a:rPr>
              <a:t>FAIR &amp; Metadata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2C2C"/>
                </a:solidFill>
              </a:rPr>
              <a:t>FAIR principles:  doi.org/10.1038/sdata.2016.18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2C2C"/>
                </a:solidFill>
              </a:rPr>
              <a:t>FOOPS! paper:  doi.org/10.3390/app11083950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2C2C"/>
                </a:solidFill>
              </a:rPr>
              <a:t>Dublin Core:  dublincore.org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2C2C"/>
                </a:solidFill>
              </a:rPr>
              <a:t>MOD ontology:  w3id.org/mod</a:t>
            </a:r>
          </a:p>
          <a:p>
            <a:pPr algn="l">
              <a:spcBef>
                <a:spcPts val="300"/>
              </a:spcBef>
            </a:pPr>
            <a:r>
              <a:rPr sz="1200">
                <a:solidFill>
                  <a:srgbClr val="2C2C2C"/>
                </a:solidFill>
              </a:rPr>
              <a:t>W3ID:  w3id.org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7315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94960" y="731520"/>
            <a:ext cx="137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0" i="0">
                <a:solidFill>
                  <a:srgbClr val="2C2C2C"/>
                </a:solidFill>
              </a:rPr>
              <a:t>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Let's Get Started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260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D6EAF8"/>
                </a:solidFill>
              </a:rPr>
              <a:t>Open Jupyter Lab and run notebook 00-SULO-tutorial-setup.ipynb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11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AACCEE"/>
                </a:solidFill>
              </a:rPr>
              <a:t>github.com/micheldumontier/sulo-tutorial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94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8AACC"/>
                </a:solidFill>
              </a:rPr>
              <a:t>Questions?  →  michel.dumontier@maastrichtuniversity.nl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