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2" r:id="rId24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0" d="100"/>
          <a:sy n="140" d="100"/>
        </p:scale>
        <p:origin x="237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ba9aca0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ba9aca0f6_0_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7ba9aca0f6_0_0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7c6851bf96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7c6851bf96_0_21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7c6851bf96_0_214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a9aca10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a9aca108_0_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7ba9aca108_0_5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7ba9aca108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7ba9aca108_0_38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7ba9aca108_0_38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6851bf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7c6851bf96_0_22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37c6851bf96_0_225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ba9aca10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7ba9aca108_0_1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7ba9aca108_0_1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7c6851bf96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7c6851bf96_0_3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7c6851bf96_0_3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c6851bf96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7c6851bf96_0_1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7c6851bf96_0_14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c6851bf9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7c6851bf96_0_3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7c6851bf96_0_30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c6851bf9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08400" y="514350"/>
            <a:ext cx="81279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c6851bf96_0_36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ba9aca10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7ba9aca108_0_3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7ba9aca108_0_3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7c6851bf96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7c6851bf96_0_107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g37c6851bf96_0_107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7c6851bf96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7c6851bf96_0_113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g37c6851bf96_0_113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7c6851bf96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7c6851bf96_0_119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7c6851bf96_0_119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7c6851bf9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7c6851bf96_0_14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7c6851bf96_0_140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7c6851bf96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7c6851bf96_0_15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37c6851bf96_0_15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c6851bf96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c6851bf96_0_158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7c6851bf96_0_158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c6851bf9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c6851bf96_0_17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7c6851bf96_0_17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7c6851bf9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7c6851bf96_0_19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37c6851bf96_0_190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7c6851bf96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7c6851bf96_0_18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g37c6851bf96_0_184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c6851bf96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7c6851bf96_0_20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37c6851bf96_0_20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7c6851bf96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7c6851bf96_0_207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7c6851bf96_0_207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23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photo Randwijck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64587" y="189852"/>
            <a:ext cx="7377145" cy="165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64588" y="1829639"/>
            <a:ext cx="419661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  <p:pic>
        <p:nvPicPr>
          <p:cNvPr id="18" name="Google Shape;18;p2" descr="UM40_RGB_B_diap.png"/>
          <p:cNvPicPr preferRelativeResize="0"/>
          <p:nvPr/>
        </p:nvPicPr>
        <p:blipFill rotWithShape="1">
          <a:blip r:embed="rId3">
            <a:alphaModFix/>
          </a:blip>
          <a:srcRect r="20321"/>
          <a:stretch/>
        </p:blipFill>
        <p:spPr>
          <a:xfrm>
            <a:off x="360001" y="4630499"/>
            <a:ext cx="1590638" cy="381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799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799" cy="333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273246" y="4738971"/>
            <a:ext cx="39776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pic>
        <p:nvPicPr>
          <p:cNvPr id="25" name="Google Shape;25;p3"/>
          <p:cNvPicPr preferRelativeResize="0"/>
          <p:nvPr/>
        </p:nvPicPr>
        <p:blipFill rotWithShape="1">
          <a:blip r:embed="rId2">
            <a:alphaModFix/>
          </a:blip>
          <a:srcRect r="19769"/>
          <a:stretch/>
        </p:blipFill>
        <p:spPr>
          <a:xfrm>
            <a:off x="360001" y="4630216"/>
            <a:ext cx="1602792" cy="379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light blue">
  <p:cSld name="Title slide light blue">
    <p:bg>
      <p:bgPr>
        <a:solidFill>
          <a:schemeClr val="dk2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ctrTitle"/>
          </p:nvPr>
        </p:nvSpPr>
        <p:spPr>
          <a:xfrm>
            <a:off x="564588" y="189852"/>
            <a:ext cx="6598342" cy="165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564588" y="1829639"/>
            <a:ext cx="419661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  <p:pic>
        <p:nvPicPr>
          <p:cNvPr id="29" name="Google Shape;29;p4" descr="UM40_RGB_B_blauw.png"/>
          <p:cNvPicPr preferRelativeResize="0"/>
          <p:nvPr/>
        </p:nvPicPr>
        <p:blipFill rotWithShape="1">
          <a:blip r:embed="rId2">
            <a:alphaModFix/>
          </a:blip>
          <a:srcRect r="20321"/>
          <a:stretch/>
        </p:blipFill>
        <p:spPr>
          <a:xfrm>
            <a:off x="360001" y="4630501"/>
            <a:ext cx="1590638" cy="381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+ illustration">
  <p:cSld name="Title slide + illustration">
    <p:bg>
      <p:bgPr>
        <a:solidFill>
          <a:schemeClr val="dk2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ctrTitle"/>
          </p:nvPr>
        </p:nvSpPr>
        <p:spPr>
          <a:xfrm>
            <a:off x="564588" y="189852"/>
            <a:ext cx="6598342" cy="165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1"/>
          </p:nvPr>
        </p:nvSpPr>
        <p:spPr>
          <a:xfrm>
            <a:off x="564588" y="1829639"/>
            <a:ext cx="419661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  <p:pic>
        <p:nvPicPr>
          <p:cNvPr id="33" name="Google Shape;33;p5" descr="UM40_RGB_B_blauw.png"/>
          <p:cNvPicPr preferRelativeResize="0"/>
          <p:nvPr/>
        </p:nvPicPr>
        <p:blipFill rotWithShape="1">
          <a:blip r:embed="rId2">
            <a:alphaModFix/>
          </a:blip>
          <a:srcRect r="20321"/>
          <a:stretch/>
        </p:blipFill>
        <p:spPr>
          <a:xfrm>
            <a:off x="360001" y="4630501"/>
            <a:ext cx="1590638" cy="38185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 descr="Future look.png"/>
          <p:cNvSpPr/>
          <p:nvPr/>
        </p:nvSpPr>
        <p:spPr>
          <a:xfrm>
            <a:off x="5396488" y="1884997"/>
            <a:ext cx="3532883" cy="326196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photo inner city">
  <p:cSld name="Title slide photo inner cit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ctrTitle"/>
          </p:nvPr>
        </p:nvSpPr>
        <p:spPr>
          <a:xfrm>
            <a:off x="564588" y="189852"/>
            <a:ext cx="3948145" cy="138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  <a:defRPr sz="4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564588" y="1702639"/>
            <a:ext cx="3948145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  <p:pic>
        <p:nvPicPr>
          <p:cNvPr id="38" name="Google Shape;38;p6" descr="UM40_RGB_B_diap.png"/>
          <p:cNvPicPr preferRelativeResize="0"/>
          <p:nvPr/>
        </p:nvPicPr>
        <p:blipFill rotWithShape="1">
          <a:blip r:embed="rId3">
            <a:alphaModFix/>
          </a:blip>
          <a:srcRect r="20321"/>
          <a:stretch/>
        </p:blipFill>
        <p:spPr>
          <a:xfrm>
            <a:off x="360001" y="4630499"/>
            <a:ext cx="1590638" cy="381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dark blue">
  <p:cSld name="Title slide dark blue">
    <p:bg>
      <p:bgPr>
        <a:solidFill>
          <a:schemeClr val="dk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 descr="UM40_RGB_B_diap.png"/>
          <p:cNvPicPr preferRelativeResize="0"/>
          <p:nvPr/>
        </p:nvPicPr>
        <p:blipFill rotWithShape="1">
          <a:blip r:embed="rId2">
            <a:alphaModFix/>
          </a:blip>
          <a:srcRect r="20321"/>
          <a:stretch/>
        </p:blipFill>
        <p:spPr>
          <a:xfrm>
            <a:off x="360001" y="4630499"/>
            <a:ext cx="1590638" cy="381853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>
            <a:off x="564588" y="189852"/>
            <a:ext cx="6598342" cy="165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564588" y="1829639"/>
            <a:ext cx="419661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orange">
  <p:cSld name="Title slide orange">
    <p:bg>
      <p:bgPr>
        <a:solidFill>
          <a:schemeClr val="accen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8" descr="UM40_RGB_B_diap.png"/>
          <p:cNvPicPr preferRelativeResize="0"/>
          <p:nvPr/>
        </p:nvPicPr>
        <p:blipFill rotWithShape="1">
          <a:blip r:embed="rId2">
            <a:alphaModFix/>
          </a:blip>
          <a:srcRect r="20930"/>
          <a:stretch/>
        </p:blipFill>
        <p:spPr>
          <a:xfrm>
            <a:off x="360001" y="4630499"/>
            <a:ext cx="1578484" cy="38185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564588" y="189852"/>
            <a:ext cx="6598342" cy="1653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564588" y="1829639"/>
            <a:ext cx="419661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800"/>
              <a:buNone/>
              <a:defRPr>
                <a:solidFill>
                  <a:srgbClr val="88898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400"/>
              <a:buNone/>
              <a:defRPr>
                <a:solidFill>
                  <a:srgbClr val="88898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98F"/>
              </a:buClr>
              <a:buSzPts val="2000"/>
              <a:buNone/>
              <a:defRPr>
                <a:solidFill>
                  <a:srgbClr val="88898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dark blue">
  <p:cSld name="Text slide dark blue">
    <p:bg>
      <p:bgPr>
        <a:solidFill>
          <a:schemeClr val="accent3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799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799" cy="333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318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-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-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-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-"/>
              <a:defRPr>
                <a:solidFill>
                  <a:schemeClr val="lt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ftr" idx="11"/>
          </p:nvPr>
        </p:nvSpPr>
        <p:spPr>
          <a:xfrm>
            <a:off x="4273246" y="4738971"/>
            <a:ext cx="39776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pic>
        <p:nvPicPr>
          <p:cNvPr id="53" name="Google Shape;53;p9" descr="UM40_RGB_B_diap.png"/>
          <p:cNvPicPr preferRelativeResize="0"/>
          <p:nvPr/>
        </p:nvPicPr>
        <p:blipFill rotWithShape="1">
          <a:blip r:embed="rId2">
            <a:alphaModFix/>
          </a:blip>
          <a:srcRect r="21235"/>
          <a:stretch/>
        </p:blipFill>
        <p:spPr>
          <a:xfrm>
            <a:off x="360001" y="4630499"/>
            <a:ext cx="1572408" cy="381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light blue">
  <p:cSld name="Text slide light blue">
    <p:bg>
      <p:bgPr>
        <a:solidFill>
          <a:schemeClr val="dk2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799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799" cy="333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318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-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-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-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-"/>
              <a:defRPr>
                <a:solidFill>
                  <a:schemeClr val="lt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ftr" idx="11"/>
          </p:nvPr>
        </p:nvSpPr>
        <p:spPr>
          <a:xfrm>
            <a:off x="4273246" y="4738971"/>
            <a:ext cx="39776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pic>
        <p:nvPicPr>
          <p:cNvPr id="60" name="Google Shape;60;p10" descr="UM40_RGB_B_blauw.png"/>
          <p:cNvPicPr preferRelativeResize="0"/>
          <p:nvPr/>
        </p:nvPicPr>
        <p:blipFill rotWithShape="1">
          <a:blip r:embed="rId2">
            <a:alphaModFix/>
          </a:blip>
          <a:srcRect r="20321"/>
          <a:stretch/>
        </p:blipFill>
        <p:spPr>
          <a:xfrm>
            <a:off x="360001" y="4630501"/>
            <a:ext cx="1590638" cy="381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/photo slide">
  <p:cSld name="Text/photo slide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60001" y="310695"/>
            <a:ext cx="3934625" cy="1174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360001" y="1485117"/>
            <a:ext cx="3934624" cy="2857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dt" idx="10"/>
          </p:nvPr>
        </p:nvSpPr>
        <p:spPr>
          <a:xfrm>
            <a:off x="4595043" y="4738971"/>
            <a:ext cx="55073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ftr" idx="11"/>
          </p:nvPr>
        </p:nvSpPr>
        <p:spPr>
          <a:xfrm>
            <a:off x="4745252" y="4738971"/>
            <a:ext cx="3449951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sldNum" idx="12"/>
          </p:nvPr>
        </p:nvSpPr>
        <p:spPr>
          <a:xfrm>
            <a:off x="8195205" y="4738800"/>
            <a:ext cx="56997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4595044" y="0"/>
            <a:ext cx="4548957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pic>
        <p:nvPicPr>
          <p:cNvPr id="68" name="Google Shape;68;p11"/>
          <p:cNvPicPr preferRelativeResize="0"/>
          <p:nvPr/>
        </p:nvPicPr>
        <p:blipFill rotWithShape="1">
          <a:blip r:embed="rId2">
            <a:alphaModFix/>
          </a:blip>
          <a:srcRect r="19769"/>
          <a:stretch/>
        </p:blipFill>
        <p:spPr>
          <a:xfrm>
            <a:off x="360001" y="4630216"/>
            <a:ext cx="1602792" cy="379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slide">
  <p:cSld name="Photo slide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4359967" y="4738800"/>
            <a:ext cx="374188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358700" y="4686937"/>
            <a:ext cx="1533600" cy="233363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slide">
  <p:cSld name="Table slide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799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4273246" y="4738971"/>
            <a:ext cx="39776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pic>
        <p:nvPicPr>
          <p:cNvPr id="80" name="Google Shape;80;p13"/>
          <p:cNvPicPr preferRelativeResize="0"/>
          <p:nvPr/>
        </p:nvPicPr>
        <p:blipFill rotWithShape="1">
          <a:blip r:embed="rId2">
            <a:alphaModFix/>
          </a:blip>
          <a:srcRect r="19769"/>
          <a:stretch/>
        </p:blipFill>
        <p:spPr>
          <a:xfrm>
            <a:off x="360001" y="4630216"/>
            <a:ext cx="1602792" cy="379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31800">
              <a:spcBef>
                <a:spcPts val="0"/>
              </a:spcBef>
              <a:spcAft>
                <a:spcPts val="0"/>
              </a:spcAft>
              <a:buSzPts val="3200"/>
              <a:buChar char="•"/>
              <a:defRPr/>
            </a:lvl1pPr>
            <a:lvl2pPr marL="914400" lvl="1" indent="-406400">
              <a:spcBef>
                <a:spcPts val="0"/>
              </a:spcBef>
              <a:spcAft>
                <a:spcPts val="0"/>
              </a:spcAft>
              <a:buSzPts val="2800"/>
              <a:buChar char="-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-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-"/>
              <a:defRPr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-"/>
              <a:defRPr/>
            </a:lvl5pPr>
            <a:lvl6pPr marL="2743200" lvl="5" indent="-3556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799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libri"/>
              <a:buNone/>
              <a:defRPr sz="32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799" cy="3333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431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Char char="-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erriweather Sans"/>
              <a:buChar char="-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erriweather Sans"/>
              <a:buChar char="-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erriweather Sans"/>
              <a:buChar char="-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3234468" y="4738971"/>
            <a:ext cx="91446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273246" y="4738971"/>
            <a:ext cx="39776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316142" y="4738800"/>
            <a:ext cx="37065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5"/>
          <p:cNvSpPr txBox="1">
            <a:spLocks noGrp="1"/>
          </p:cNvSpPr>
          <p:nvPr>
            <p:ph type="title"/>
          </p:nvPr>
        </p:nvSpPr>
        <p:spPr>
          <a:xfrm>
            <a:off x="339275" y="1343276"/>
            <a:ext cx="8326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libri"/>
              <a:buNone/>
            </a:pPr>
            <a:r>
              <a:rPr lang="nl-NL"/>
              <a:t>SULO – a simplified upper-level ontology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Upper Level Ontologies</a:t>
            </a:r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72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100" b="1"/>
              <a:t>Ontologies </a:t>
            </a:r>
            <a:r>
              <a:rPr lang="nl-NL" sz="2100"/>
              <a:t>offer a </a:t>
            </a:r>
            <a:r>
              <a:rPr lang="nl-NL" sz="2100" i="1"/>
              <a:t>formalization </a:t>
            </a:r>
            <a:r>
              <a:rPr lang="nl-NL" sz="2100"/>
              <a:t>of a s</a:t>
            </a:r>
            <a:r>
              <a:rPr lang="nl-NL" sz="2100" i="1"/>
              <a:t>hared conceptualization</a:t>
            </a:r>
            <a:r>
              <a:rPr lang="nl-NL" sz="2100"/>
              <a:t> of a </a:t>
            </a:r>
            <a:r>
              <a:rPr lang="nl-NL" sz="2100" i="1"/>
              <a:t>domain</a:t>
            </a:r>
            <a:r>
              <a:rPr lang="nl-NL" sz="2100"/>
              <a:t>. They provide machine interpretable descriptions of entities, their attributes, and their relations.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100" b="1"/>
              <a:t>Upper Level Ontologies (ULOs)</a:t>
            </a:r>
            <a:r>
              <a:rPr lang="nl-NL" sz="2100"/>
              <a:t>, aka </a:t>
            </a:r>
            <a:r>
              <a:rPr lang="nl-NL" sz="2100" i="1"/>
              <a:t>foundation ontologies</a:t>
            </a:r>
            <a:r>
              <a:rPr lang="nl-NL" sz="2100"/>
              <a:t>, offer an overarching axiomatic framework for domain ontologies (DOs) so as to </a:t>
            </a:r>
            <a:r>
              <a:rPr lang="nl-NL" sz="2100" i="1"/>
              <a:t>constrain </a:t>
            </a:r>
            <a:r>
              <a:rPr lang="nl-NL" sz="2100"/>
              <a:t>the conceptualization and formalisation of a domain.</a:t>
            </a: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100"/>
              <a:t>Many ULOs have been proposed: BFO, GFO, DOLCE, UFO, SUMO, and some such as SIO and BioTop contain and extend ULOs into domain specific classes and relations.</a:t>
            </a:r>
            <a:endParaRPr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Domain ontologies and schemas</a:t>
            </a:r>
            <a:endParaRPr/>
          </a:p>
        </p:txBody>
      </p:sp>
      <p:sp>
        <p:nvSpPr>
          <p:cNvPr id="105" name="Google Shape;105;p17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58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300"/>
              <a:t>However, many domain ontologies (e.g. SNOMED) and data schemas (e.g. SPHN) are driven by immediate, pragmatic needs and ULOs are not typically used to guide their development. </a:t>
            </a:r>
            <a:endParaRPr sz="23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300"/>
              <a:t>The lack of adherence to an ULO leads to inefficient representations:</a:t>
            </a:r>
            <a:endParaRPr sz="23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nl-NL" sz="2300"/>
              <a:t>Inability to extend the domain ontology or schema by reusing domain and/or application-specific relations</a:t>
            </a:r>
            <a:endParaRPr sz="23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nl-NL" sz="2300"/>
              <a:t>leading to a proliferation of semantically ungrounded relations</a:t>
            </a:r>
            <a:endParaRPr sz="23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nl-NL" sz="2300"/>
              <a:t>leading to non-interoperable schemas around each target class</a:t>
            </a:r>
            <a:endParaRPr sz="2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ULOs remain difficult to correctly apply</a:t>
            </a:r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447700" cy="36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nl-NL" sz="2200"/>
              <a:t>Most ULOs feature </a:t>
            </a:r>
            <a:r>
              <a:rPr lang="nl-NL" sz="2200" u="sng"/>
              <a:t>nuanced philosophical considerations and familiarity with logic</a:t>
            </a:r>
            <a:r>
              <a:rPr lang="nl-NL" sz="2200"/>
              <a:t>.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nl-NL" sz="2200"/>
              <a:t>ULOs adopt </a:t>
            </a:r>
            <a:r>
              <a:rPr lang="nl-NL" sz="2200" u="sng"/>
              <a:t>unfamiliar or technical labels</a:t>
            </a:r>
            <a:r>
              <a:rPr lang="nl-NL" sz="2200"/>
              <a:t>: continuant, endurant, perdurant, specifically dependent continuant, which avoids meaning overload, but are difficult to grasp and correctly apply by non experts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nl-NL" sz="2200"/>
              <a:t>ULOs have </a:t>
            </a:r>
            <a:r>
              <a:rPr lang="nl-NL" sz="2200" u="sng"/>
              <a:t>distinct, missing, underrepresented, or overconstrained areas</a:t>
            </a:r>
            <a:r>
              <a:rPr lang="nl-NL" sz="2200"/>
              <a:t>. BFO and DOLCE focus on particulars, only BFO has time indexed relations (only in their common logic), immaterial bearers are not possible in BFO, BFO/GFO/DOLCE do not offer any data relations.</a:t>
            </a:r>
            <a:endParaRPr sz="2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Even experts in a particular ULO don't consistently use it in the same way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4209000" y="1637275"/>
            <a:ext cx="4829100" cy="33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900"/>
              <a:t>8 BFO experts asked to classify 46 commonly known entities from the domain of travel with BFO entities. </a:t>
            </a:r>
            <a:endParaRPr sz="19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nl-NL" sz="1900"/>
              <a:t>0.52 inter-rater agreement</a:t>
            </a:r>
            <a:endParaRPr sz="1900"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nl-NL" sz="1900"/>
              <a:t>degree of classification consistency is correlated with the frequency the respective BFO classes are used in practice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  <p:pic>
        <p:nvPicPr>
          <p:cNvPr id="120" name="Google Shape;12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553" y="1774937"/>
            <a:ext cx="3621871" cy="159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SULO</a:t>
            </a:r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3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We propose the </a:t>
            </a:r>
            <a:r>
              <a:rPr lang="nl-NL" b="1"/>
              <a:t>Simplified Upper Level Ontology (SULO) </a:t>
            </a:r>
            <a:r>
              <a:rPr lang="nl-NL"/>
              <a:t>take thats a minimalistic approach to guide the alignment, formalisation, and reusability of upper level and domain ontologies.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SULO attempts to </a:t>
            </a:r>
            <a:r>
              <a:rPr lang="nl-NL" b="1"/>
              <a:t>balance formal rigour with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/>
              <a:t>simplicity and practical usability</a:t>
            </a:r>
            <a:r>
              <a:rPr lang="nl-NL"/>
              <a:t>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800"/>
              <a:t>Design Criteria</a:t>
            </a:r>
            <a:endParaRPr sz="2800"/>
          </a:p>
        </p:txBody>
      </p:sp>
      <p:sp>
        <p:nvSpPr>
          <p:cNvPr id="141" name="Google Shape;141;p22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90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Minimalism</a:t>
            </a:r>
            <a:r>
              <a:rPr lang="nl-NL" sz="1600"/>
              <a:t>: SULO proposes</a:t>
            </a:r>
            <a:r>
              <a:rPr lang="nl-NL" sz="1600" u="sng"/>
              <a:t> a small taxonomy of disjoint classes and a minimal set of constrained relations</a:t>
            </a:r>
            <a:r>
              <a:rPr lang="nl-NL" sz="1600"/>
              <a:t> to ensure broad applicability across domains.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Compatibility</a:t>
            </a:r>
            <a:r>
              <a:rPr lang="nl-NL" sz="1600"/>
              <a:t>: SULO maintains </a:t>
            </a:r>
            <a:r>
              <a:rPr lang="nl-NL" sz="1600" u="sng"/>
              <a:t>compatibility with core components of well-known ULOs </a:t>
            </a:r>
            <a:r>
              <a:rPr lang="nl-NL" sz="1600"/>
              <a:t>while</a:t>
            </a:r>
            <a:endParaRPr sz="16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remaining accessible to domain experts. 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Accessibility</a:t>
            </a:r>
            <a:r>
              <a:rPr lang="nl-NL" sz="1600"/>
              <a:t>: SULO aims to be accessible to users with no or little training in formal ontology</a:t>
            </a:r>
            <a:endParaRPr sz="16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through friendly labeling, a simple taxonomy, and </a:t>
            </a:r>
            <a:r>
              <a:rPr lang="nl-NL" sz="1600" u="sng"/>
              <a:t>fits in a single diagram</a:t>
            </a:r>
            <a:r>
              <a:rPr lang="nl-NL" sz="1600"/>
              <a:t>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Composability</a:t>
            </a:r>
            <a:r>
              <a:rPr lang="nl-NL" sz="1600"/>
              <a:t>: SULO provides the </a:t>
            </a:r>
            <a:r>
              <a:rPr lang="nl-NL" sz="1600" u="sng"/>
              <a:t>building blocks to construct complex</a:t>
            </a:r>
            <a:r>
              <a:rPr lang="nl-NL" sz="1600"/>
              <a:t>, machine-readable</a:t>
            </a:r>
            <a:endParaRPr sz="16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class expressions.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Interoperability</a:t>
            </a:r>
            <a:r>
              <a:rPr lang="nl-NL" sz="1600"/>
              <a:t>: SULO fosters interoperability by providing a common semantic foundation,</a:t>
            </a:r>
            <a:endParaRPr sz="16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including </a:t>
            </a:r>
            <a:r>
              <a:rPr lang="nl-NL" sz="1600" u="sng"/>
              <a:t>two ontology design patterns</a:t>
            </a:r>
            <a:r>
              <a:rPr lang="nl-NL" sz="1600"/>
              <a:t>, that help domain experts adhere to explicit an implicit</a:t>
            </a:r>
            <a:endParaRPr sz="16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semantics.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nl-NL" sz="1600" b="1"/>
              <a:t>Data validation</a:t>
            </a:r>
            <a:r>
              <a:rPr lang="nl-NL" sz="1600"/>
              <a:t>: SULO constrains real-world knowledge graphs through </a:t>
            </a:r>
            <a:r>
              <a:rPr lang="nl-NL" sz="1600" u="sng"/>
              <a:t>automated reasoning</a:t>
            </a:r>
            <a:endParaRPr sz="1600" u="sng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u="sng"/>
              <a:t>and schema validation</a:t>
            </a:r>
            <a:r>
              <a:rPr lang="nl-NL" sz="1600"/>
              <a:t>.</a:t>
            </a:r>
            <a:endParaRPr sz="16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17 classes in SULO</a:t>
            </a:r>
            <a:endParaRPr/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124" y="1330175"/>
            <a:ext cx="2715900" cy="303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49350" y="1172251"/>
            <a:ext cx="5726200" cy="2886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25" y="476625"/>
            <a:ext cx="1209150" cy="134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46274" y="440075"/>
            <a:ext cx="1856425" cy="26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08300" y="440063"/>
            <a:ext cx="1563450" cy="46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03526" y="440087"/>
            <a:ext cx="1563450" cy="4560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74850" y="409850"/>
            <a:ext cx="1640050" cy="324814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5"/>
          <p:cNvSpPr txBox="1"/>
          <p:nvPr/>
        </p:nvSpPr>
        <p:spPr>
          <a:xfrm>
            <a:off x="200575" y="-21260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SULO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1702975" y="-21260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BFO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70" name="Google Shape;170;p25"/>
          <p:cNvSpPr txBox="1"/>
          <p:nvPr/>
        </p:nvSpPr>
        <p:spPr>
          <a:xfrm>
            <a:off x="7060200" y="-21260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GFO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5588325" y="-21260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gUFO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72" name="Google Shape;172;p25"/>
          <p:cNvSpPr txBox="1"/>
          <p:nvPr/>
        </p:nvSpPr>
        <p:spPr>
          <a:xfrm>
            <a:off x="3474850" y="-21260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DOLCE</a:t>
            </a:r>
            <a:endParaRPr sz="1600" b="1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SULO Properties</a:t>
            </a:r>
            <a:endParaRPr/>
          </a:p>
        </p:txBody>
      </p:sp>
      <p:sp>
        <p:nvSpPr>
          <p:cNvPr id="179" name="Google Shape;179;p26"/>
          <p:cNvSpPr txBox="1">
            <a:spLocks noGrp="1"/>
          </p:cNvSpPr>
          <p:nvPr>
            <p:ph type="body" idx="1"/>
          </p:nvPr>
        </p:nvSpPr>
        <p:spPr>
          <a:xfrm>
            <a:off x="298925" y="800225"/>
            <a:ext cx="8326800" cy="61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300"/>
              <a:t>18 object properties (9 direct + 9 inverses) and 1 data property.</a:t>
            </a:r>
            <a:endParaRPr sz="2300"/>
          </a:p>
        </p:txBody>
      </p:sp>
      <p:pic>
        <p:nvPicPr>
          <p:cNvPr id="180" name="Google Shape;18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83643"/>
            <a:ext cx="9144000" cy="2176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7"/>
          <p:cNvSpPr txBox="1"/>
          <p:nvPr/>
        </p:nvSpPr>
        <p:spPr>
          <a:xfrm>
            <a:off x="200575" y="-53206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SULO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88" name="Google Shape;188;p27"/>
          <p:cNvSpPr txBox="1"/>
          <p:nvPr/>
        </p:nvSpPr>
        <p:spPr>
          <a:xfrm>
            <a:off x="1702975" y="-53206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BFO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3595225" y="-53206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GFO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5557800" y="-53206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gUFO</a:t>
            </a:r>
            <a:endParaRPr sz="1600" b="1">
              <a:solidFill>
                <a:schemeClr val="dk2"/>
              </a:solidFill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7213350" y="-53206"/>
            <a:ext cx="150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>
                <a:solidFill>
                  <a:schemeClr val="dk2"/>
                </a:solidFill>
              </a:rPr>
              <a:t>DOLCE</a:t>
            </a:r>
            <a:endParaRPr sz="1600" b="1">
              <a:solidFill>
                <a:schemeClr val="dk2"/>
              </a:solidFill>
            </a:endParaRPr>
          </a:p>
        </p:txBody>
      </p:sp>
      <p:pic>
        <p:nvPicPr>
          <p:cNvPr id="192" name="Google Shape;19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00" y="304800"/>
            <a:ext cx="1054650" cy="1629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9201" y="304800"/>
            <a:ext cx="1621132" cy="4838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72575" y="256775"/>
            <a:ext cx="1596125" cy="379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34875" y="256775"/>
            <a:ext cx="1162846" cy="4914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213351" y="256779"/>
            <a:ext cx="1263125" cy="4914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400" y="1104277"/>
            <a:ext cx="7654001" cy="384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8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SULO in a postcard</a:t>
            </a:r>
            <a:endParaRPr/>
          </a:p>
        </p:txBody>
      </p:sp>
      <p:sp>
        <p:nvSpPr>
          <p:cNvPr id="204" name="Google Shape;204;p28"/>
          <p:cNvSpPr txBox="1"/>
          <p:nvPr/>
        </p:nvSpPr>
        <p:spPr>
          <a:xfrm>
            <a:off x="63175" y="4031725"/>
            <a:ext cx="3644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 b="1"/>
              <a:t>solid lines</a:t>
            </a:r>
            <a:r>
              <a:rPr lang="nl-NL" sz="1000"/>
              <a:t> show domain and range of properties </a:t>
            </a:r>
            <a:endParaRPr sz="1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 u="sng"/>
              <a:t>dotted lines</a:t>
            </a:r>
            <a:r>
              <a:rPr lang="nl-NL" sz="1000"/>
              <a:t> show restrictions in class axioms</a:t>
            </a:r>
            <a:endParaRPr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Ontology Design Patterns</a:t>
            </a:r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3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900"/>
              <a:t>Ontology Design Patterns (ODPs) can help to structure data graphs that foster semantic interoperability across domain-specific knowledge representations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900"/>
              <a:t>We propose to key ODPs: </a:t>
            </a:r>
            <a:r>
              <a:rPr lang="nl-NL" sz="1900" b="1"/>
              <a:t>SOLID </a:t>
            </a:r>
            <a:r>
              <a:rPr lang="nl-NL" sz="1900"/>
              <a:t>and </a:t>
            </a:r>
            <a:r>
              <a:rPr lang="nl-NL" sz="1900" b="1"/>
              <a:t>PRO</a:t>
            </a:r>
            <a:endParaRPr sz="19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900" b="1"/>
              <a:t>SOLID </a:t>
            </a:r>
            <a:r>
              <a:rPr lang="nl-NL" sz="1900"/>
              <a:t>focuses describing </a:t>
            </a:r>
            <a:r>
              <a:rPr lang="nl-NL" sz="1900" i="1"/>
              <a:t>literal </a:t>
            </a:r>
            <a:r>
              <a:rPr lang="nl-NL" sz="1900"/>
              <a:t>containing relations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900" b="1"/>
              <a:t>PRO </a:t>
            </a:r>
            <a:r>
              <a:rPr lang="nl-NL" sz="1900"/>
              <a:t>focuses on describing </a:t>
            </a:r>
            <a:r>
              <a:rPr lang="nl-NL" sz="1900" i="1"/>
              <a:t>role</a:t>
            </a:r>
            <a:r>
              <a:rPr lang="nl-NL" sz="1900"/>
              <a:t>-</a:t>
            </a:r>
            <a:r>
              <a:rPr lang="nl-NL" sz="1900" i="1"/>
              <a:t>based</a:t>
            </a:r>
            <a:r>
              <a:rPr lang="nl-NL" sz="1900"/>
              <a:t> relations</a:t>
            </a:r>
            <a:endParaRPr sz="1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0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SOLID ODP</a:t>
            </a:r>
            <a:endParaRPr/>
          </a:p>
        </p:txBody>
      </p:sp>
      <p:sp>
        <p:nvSpPr>
          <p:cNvPr id="218" name="Google Shape;218;p30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178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500"/>
              <a:t>The SOLID pattern uses SULO’s single </a:t>
            </a:r>
            <a:r>
              <a:rPr lang="nl-NL" sz="1500" i="1"/>
              <a:t>functional </a:t>
            </a:r>
            <a:r>
              <a:rPr lang="nl-NL" sz="1500"/>
              <a:t>data property, </a:t>
            </a:r>
            <a:r>
              <a:rPr lang="nl-NL" sz="1500" b="1"/>
              <a:t>hasValue</a:t>
            </a:r>
            <a:r>
              <a:rPr lang="nl-NL" sz="1500"/>
              <a:t>, to assign a literal value to an InformationObject. </a:t>
            </a:r>
            <a:endParaRPr sz="1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500"/>
              <a:t>Example: Instead of using arbitrary relations such as </a:t>
            </a:r>
            <a:r>
              <a:rPr lang="nl-NL" sz="1500" b="1"/>
              <a:t>hasTemperature </a:t>
            </a:r>
            <a:r>
              <a:rPr lang="nl-NL" sz="1500"/>
              <a:t>or </a:t>
            </a:r>
            <a:r>
              <a:rPr lang="nl-NL" sz="1500" b="1"/>
              <a:t>hasTemperatureInCelcius</a:t>
            </a:r>
            <a:r>
              <a:rPr lang="nl-NL" sz="1500"/>
              <a:t>, the design pattern reuses SULO’s </a:t>
            </a:r>
            <a:r>
              <a:rPr lang="nl-NL" sz="1500" b="1"/>
              <a:t>hasValue</a:t>
            </a:r>
            <a:r>
              <a:rPr lang="nl-NL" sz="1500"/>
              <a:t>, </a:t>
            </a:r>
            <a:r>
              <a:rPr lang="nl-NL" sz="1500" b="1"/>
              <a:t>hasFeature</a:t>
            </a:r>
            <a:r>
              <a:rPr lang="nl-NL" sz="1500"/>
              <a:t>, </a:t>
            </a:r>
            <a:r>
              <a:rPr lang="nl-NL" sz="1500" b="1"/>
              <a:t>refersTo, </a:t>
            </a:r>
            <a:r>
              <a:rPr lang="nl-NL" sz="1500"/>
              <a:t>and </a:t>
            </a:r>
            <a:r>
              <a:rPr lang="nl-NL" sz="1500" b="1"/>
              <a:t>hasPart </a:t>
            </a:r>
            <a:r>
              <a:rPr lang="nl-NL" sz="1500"/>
              <a:t>properties in conjunction with two externally defined classes, namely </a:t>
            </a:r>
            <a:r>
              <a:rPr lang="nl-NL" sz="1500" b="1"/>
              <a:t>Temperature </a:t>
            </a:r>
            <a:r>
              <a:rPr lang="nl-NL" sz="1500"/>
              <a:t>from PATO and </a:t>
            </a:r>
            <a:r>
              <a:rPr lang="nl-NL" sz="1500" b="1"/>
              <a:t>Celcius </a:t>
            </a:r>
            <a:r>
              <a:rPr lang="nl-NL" sz="1500"/>
              <a:t>from the Unit Ontology</a:t>
            </a:r>
            <a:endParaRPr sz="1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500"/>
              <a:t>Hence, developing an ontology of InformationObjects is encouraged, rather than a proliferation of data properties.</a:t>
            </a:r>
            <a:endParaRPr sz="1500"/>
          </a:p>
        </p:txBody>
      </p:sp>
      <p:pic>
        <p:nvPicPr>
          <p:cNvPr id="219" name="Google Shape;21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8923" y="2999349"/>
            <a:ext cx="7443077" cy="204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PRO ODP</a:t>
            </a:r>
            <a:endParaRPr/>
          </a:p>
        </p:txBody>
      </p:sp>
      <p:sp>
        <p:nvSpPr>
          <p:cNvPr id="226" name="Google Shape;226;p31"/>
          <p:cNvSpPr txBox="1">
            <a:spLocks noGrp="1"/>
          </p:cNvSpPr>
          <p:nvPr>
            <p:ph type="body" idx="1"/>
          </p:nvPr>
        </p:nvSpPr>
        <p:spPr>
          <a:xfrm>
            <a:off x="360000" y="965900"/>
            <a:ext cx="8326800" cy="68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The Process-Role-Object (PRO) ODP provides a way to represent </a:t>
            </a:r>
            <a:r>
              <a:rPr lang="nl-NL" sz="1600" i="1"/>
              <a:t>the manner in which </a:t>
            </a:r>
            <a:r>
              <a:rPr lang="nl-NL" sz="1600" b="1"/>
              <a:t>objects </a:t>
            </a:r>
            <a:r>
              <a:rPr lang="nl-NL" sz="1600"/>
              <a:t>participate in </a:t>
            </a:r>
            <a:r>
              <a:rPr lang="nl-NL" sz="1600" b="1"/>
              <a:t>processes </a:t>
            </a:r>
            <a:r>
              <a:rPr lang="nl-NL" sz="1600"/>
              <a:t>through specified </a:t>
            </a:r>
            <a:r>
              <a:rPr lang="nl-NL" sz="1600" b="1"/>
              <a:t>roles</a:t>
            </a:r>
            <a:r>
              <a:rPr lang="nl-NL" sz="1600"/>
              <a:t>.</a:t>
            </a:r>
            <a:endParaRPr sz="1600"/>
          </a:p>
        </p:txBody>
      </p:sp>
      <p:pic>
        <p:nvPicPr>
          <p:cNvPr id="227" name="Google Shape;22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625" y="2913825"/>
            <a:ext cx="3490525" cy="250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000" y="1579900"/>
            <a:ext cx="4218275" cy="122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1"/>
          <p:cNvSpPr txBox="1"/>
          <p:nvPr/>
        </p:nvSpPr>
        <p:spPr>
          <a:xfrm>
            <a:off x="4703675" y="1990800"/>
            <a:ext cx="4218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Applies to spatial objects and information objects!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1"/>
          <p:cNvSpPr txBox="1"/>
          <p:nvPr/>
        </p:nvSpPr>
        <p:spPr>
          <a:xfrm>
            <a:off x="4734225" y="2801900"/>
            <a:ext cx="4092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Role chain to infer participation of role holding object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1"/>
          <p:cNvSpPr txBox="1"/>
          <p:nvPr/>
        </p:nvSpPr>
        <p:spPr>
          <a:xfrm>
            <a:off x="332700" y="3613000"/>
            <a:ext cx="8381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The pattern makes explicit the semantics for role-aligned object relations such as </a:t>
            </a:r>
            <a:r>
              <a:rPr lang="nl-NL" sz="1600" b="1"/>
              <a:t>hasPatient</a:t>
            </a:r>
            <a:r>
              <a:rPr lang="nl-NL" sz="1600"/>
              <a:t>, </a:t>
            </a:r>
            <a:r>
              <a:rPr lang="nl-NL" sz="1600" b="1"/>
              <a:t>hasCareProvider</a:t>
            </a:r>
            <a:r>
              <a:rPr lang="nl-NL" sz="1600"/>
              <a:t>. </a:t>
            </a:r>
            <a:r>
              <a:rPr lang="nl-NL" sz="1600" i="1"/>
              <a:t>Hence, this pattern reduces the impulse to create and proliferate such relations.</a:t>
            </a:r>
            <a:endParaRPr sz="1600" i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2"/>
          <p:cNvSpPr/>
          <p:nvPr/>
        </p:nvSpPr>
        <p:spPr>
          <a:xfrm>
            <a:off x="3602550" y="611109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>
                <a:latin typeface="Calibri"/>
                <a:ea typeface="Calibri"/>
                <a:cs typeface="Calibri"/>
                <a:sym typeface="Calibri"/>
              </a:rPr>
              <a:t>sulo:Process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32"/>
          <p:cNvSpPr/>
          <p:nvPr/>
        </p:nvSpPr>
        <p:spPr>
          <a:xfrm>
            <a:off x="3602575" y="200775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healthcare encounter1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2"/>
          <p:cNvSpPr/>
          <p:nvPr/>
        </p:nvSpPr>
        <p:spPr>
          <a:xfrm>
            <a:off x="2303601" y="3709915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>
                <a:latin typeface="Calibri"/>
                <a:ea typeface="Calibri"/>
                <a:cs typeface="Calibri"/>
                <a:sym typeface="Calibri"/>
              </a:rPr>
              <a:t>sulo:SpatialObject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2"/>
          <p:cNvSpPr/>
          <p:nvPr/>
        </p:nvSpPr>
        <p:spPr>
          <a:xfrm>
            <a:off x="2303626" y="3365365"/>
            <a:ext cx="1301100" cy="336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alice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2"/>
          <p:cNvSpPr/>
          <p:nvPr/>
        </p:nvSpPr>
        <p:spPr>
          <a:xfrm>
            <a:off x="4960863" y="3614900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>
                <a:latin typeface="Calibri"/>
                <a:ea typeface="Calibri"/>
                <a:cs typeface="Calibri"/>
                <a:sym typeface="Calibri"/>
              </a:rPr>
              <a:t>sulo:SpatialObject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32"/>
          <p:cNvSpPr/>
          <p:nvPr/>
        </p:nvSpPr>
        <p:spPr>
          <a:xfrm>
            <a:off x="4960888" y="3270350"/>
            <a:ext cx="1301100" cy="336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Dr Smith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2"/>
          <p:cNvSpPr/>
          <p:nvPr/>
        </p:nvSpPr>
        <p:spPr>
          <a:xfrm>
            <a:off x="4948500" y="2016850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>
                <a:latin typeface="Calibri"/>
                <a:ea typeface="Calibri"/>
                <a:cs typeface="Calibri"/>
                <a:sym typeface="Calibri"/>
              </a:rPr>
              <a:t>sulo:Role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2"/>
          <p:cNvSpPr/>
          <p:nvPr/>
        </p:nvSpPr>
        <p:spPr>
          <a:xfrm>
            <a:off x="4948525" y="1337600"/>
            <a:ext cx="1301100" cy="671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dr. smith's health care provider role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2"/>
          <p:cNvSpPr/>
          <p:nvPr/>
        </p:nvSpPr>
        <p:spPr>
          <a:xfrm>
            <a:off x="2301425" y="2016850"/>
            <a:ext cx="1301100" cy="38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000">
                <a:latin typeface="Calibri"/>
                <a:ea typeface="Calibri"/>
                <a:cs typeface="Calibri"/>
                <a:sym typeface="Calibri"/>
              </a:rPr>
              <a:t>sulo:Role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2"/>
          <p:cNvSpPr/>
          <p:nvPr/>
        </p:nvSpPr>
        <p:spPr>
          <a:xfrm>
            <a:off x="2301450" y="1337625"/>
            <a:ext cx="1301100" cy="671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alice's 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>
                <a:latin typeface="Calibri"/>
                <a:ea typeface="Calibri"/>
                <a:cs typeface="Calibri"/>
                <a:sym typeface="Calibri"/>
              </a:rPr>
              <a:t>patient role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7" name="Google Shape;247;p32"/>
          <p:cNvCxnSpPr>
            <a:stCxn id="238" idx="1"/>
            <a:endCxn id="246" idx="0"/>
          </p:cNvCxnSpPr>
          <p:nvPr/>
        </p:nvCxnSpPr>
        <p:spPr>
          <a:xfrm flipH="1">
            <a:off x="2951875" y="394425"/>
            <a:ext cx="650700" cy="9432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2"/>
          <p:cNvCxnSpPr>
            <a:stCxn id="238" idx="3"/>
            <a:endCxn id="244" idx="0"/>
          </p:cNvCxnSpPr>
          <p:nvPr/>
        </p:nvCxnSpPr>
        <p:spPr>
          <a:xfrm>
            <a:off x="4903675" y="394425"/>
            <a:ext cx="695400" cy="9432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9" name="Google Shape;249;p32"/>
          <p:cNvCxnSpPr>
            <a:stCxn id="244" idx="3"/>
            <a:endCxn id="242" idx="3"/>
          </p:cNvCxnSpPr>
          <p:nvPr/>
        </p:nvCxnSpPr>
        <p:spPr>
          <a:xfrm>
            <a:off x="6249625" y="1673150"/>
            <a:ext cx="12300" cy="1765500"/>
          </a:xfrm>
          <a:prstGeom prst="curvedConnector3">
            <a:avLst>
              <a:gd name="adj1" fmla="val 2036489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0" name="Google Shape;250;p32"/>
          <p:cNvCxnSpPr>
            <a:stCxn id="246" idx="1"/>
            <a:endCxn id="240" idx="1"/>
          </p:cNvCxnSpPr>
          <p:nvPr/>
        </p:nvCxnSpPr>
        <p:spPr>
          <a:xfrm>
            <a:off x="2301450" y="1673175"/>
            <a:ext cx="2100" cy="1860300"/>
          </a:xfrm>
          <a:prstGeom prst="curvedConnector3">
            <a:avLst>
              <a:gd name="adj1" fmla="val -1133928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1" name="Google Shape;251;p32"/>
          <p:cNvSpPr txBox="1"/>
          <p:nvPr/>
        </p:nvSpPr>
        <p:spPr>
          <a:xfrm>
            <a:off x="5569725" y="760175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sulo:hasParticipant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2"/>
          <p:cNvSpPr txBox="1"/>
          <p:nvPr/>
        </p:nvSpPr>
        <p:spPr>
          <a:xfrm>
            <a:off x="5070609" y="2640071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sulo:isFeatureOf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2"/>
          <p:cNvSpPr txBox="1"/>
          <p:nvPr/>
        </p:nvSpPr>
        <p:spPr>
          <a:xfrm>
            <a:off x="6978106" y="1829750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sulo:hasParticipant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4" name="Google Shape;254;p32"/>
          <p:cNvCxnSpPr>
            <a:stCxn id="238" idx="3"/>
            <a:endCxn id="253" idx="0"/>
          </p:cNvCxnSpPr>
          <p:nvPr/>
        </p:nvCxnSpPr>
        <p:spPr>
          <a:xfrm>
            <a:off x="4903675" y="394425"/>
            <a:ext cx="2831100" cy="14352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5" name="Google Shape;255;p32"/>
          <p:cNvCxnSpPr>
            <a:stCxn id="253" idx="2"/>
            <a:endCxn id="242" idx="3"/>
          </p:cNvCxnSpPr>
          <p:nvPr/>
        </p:nvCxnSpPr>
        <p:spPr>
          <a:xfrm rot="5400000">
            <a:off x="6378556" y="2082500"/>
            <a:ext cx="1239600" cy="14727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triangle" w="med" len="med"/>
          </a:ln>
        </p:spPr>
      </p:cxnSp>
      <p:sp>
        <p:nvSpPr>
          <p:cNvPr id="256" name="Google Shape;256;p32"/>
          <p:cNvSpPr txBox="1"/>
          <p:nvPr/>
        </p:nvSpPr>
        <p:spPr>
          <a:xfrm>
            <a:off x="252408" y="1829750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sulo:hasParticipant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7" name="Google Shape;257;p32"/>
          <p:cNvCxnSpPr>
            <a:stCxn id="238" idx="1"/>
            <a:endCxn id="256" idx="0"/>
          </p:cNvCxnSpPr>
          <p:nvPr/>
        </p:nvCxnSpPr>
        <p:spPr>
          <a:xfrm flipH="1">
            <a:off x="1009075" y="394425"/>
            <a:ext cx="2593500" cy="14352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32"/>
          <p:cNvCxnSpPr>
            <a:stCxn id="256" idx="2"/>
            <a:endCxn id="240" idx="1"/>
          </p:cNvCxnSpPr>
          <p:nvPr/>
        </p:nvCxnSpPr>
        <p:spPr>
          <a:xfrm rot="-5400000" flipH="1">
            <a:off x="989058" y="2219000"/>
            <a:ext cx="1334400" cy="12945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triangle" w="med" len="med"/>
          </a:ln>
        </p:spPr>
      </p:cxnSp>
      <p:sp>
        <p:nvSpPr>
          <p:cNvPr id="259" name="Google Shape;259;p32"/>
          <p:cNvSpPr txBox="1"/>
          <p:nvPr/>
        </p:nvSpPr>
        <p:spPr>
          <a:xfrm>
            <a:off x="2123754" y="2604816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sulo:isFeatureOf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2"/>
          <p:cNvSpPr txBox="1"/>
          <p:nvPr/>
        </p:nvSpPr>
        <p:spPr>
          <a:xfrm>
            <a:off x="1765600" y="832175"/>
            <a:ext cx="1513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sulo:hasParticipant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69725" y="4519975"/>
            <a:ext cx="3490525" cy="25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SNOMED CT is a formalised domain ontology</a:t>
            </a:r>
            <a:endParaRPr/>
          </a:p>
        </p:txBody>
      </p:sp>
      <p:sp>
        <p:nvSpPr>
          <p:cNvPr id="268" name="Google Shape;268;p33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3250800" cy="371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SNOMED CT is a formalised international clinical terminology used in coding health records.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SNOMED CT comprises 27 top level categories, 120+ relations. 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Some classes in SNOMED have ambiguous meanings, and there is interest in refactoring.  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/>
              <a:t>Most SNOMED classes and relations can be mapped to SULO classes and relations, but some SNOMED relations are compound and map to a subgraph</a:t>
            </a:r>
            <a:endParaRPr sz="1600"/>
          </a:p>
        </p:txBody>
      </p:sp>
      <p:pic>
        <p:nvPicPr>
          <p:cNvPr id="269" name="Google Shape;26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7500" y="1461275"/>
            <a:ext cx="5473650" cy="238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650" y="615328"/>
            <a:ext cx="8687475" cy="44487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6" name="Google Shape;276;p34"/>
          <p:cNvCxnSpPr/>
          <p:nvPr/>
        </p:nvCxnSpPr>
        <p:spPr>
          <a:xfrm>
            <a:off x="1032375" y="1608659"/>
            <a:ext cx="1673700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34"/>
          <p:cNvCxnSpPr/>
          <p:nvPr/>
        </p:nvCxnSpPr>
        <p:spPr>
          <a:xfrm>
            <a:off x="1080925" y="1791584"/>
            <a:ext cx="2437800" cy="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4"/>
          <p:cNvCxnSpPr/>
          <p:nvPr/>
        </p:nvCxnSpPr>
        <p:spPr>
          <a:xfrm>
            <a:off x="1007325" y="2115034"/>
            <a:ext cx="19005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34"/>
          <p:cNvCxnSpPr/>
          <p:nvPr/>
        </p:nvCxnSpPr>
        <p:spPr>
          <a:xfrm>
            <a:off x="1300200" y="3922909"/>
            <a:ext cx="862200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0" name="Google Shape;280;p34"/>
          <p:cNvCxnSpPr/>
          <p:nvPr/>
        </p:nvCxnSpPr>
        <p:spPr>
          <a:xfrm>
            <a:off x="2577125" y="4087534"/>
            <a:ext cx="6423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4"/>
          <p:cNvCxnSpPr/>
          <p:nvPr/>
        </p:nvCxnSpPr>
        <p:spPr>
          <a:xfrm>
            <a:off x="1868725" y="4430159"/>
            <a:ext cx="1106100" cy="1290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2" name="Google Shape;282;p34"/>
          <p:cNvSpPr txBox="1">
            <a:spLocks noGrp="1"/>
          </p:cNvSpPr>
          <p:nvPr>
            <p:ph type="title"/>
          </p:nvPr>
        </p:nvSpPr>
        <p:spPr>
          <a:xfrm>
            <a:off x="359988" y="15718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nl-NL" sz="1980"/>
              <a:t>SNOMED axioms can be expressed with domain-independent SULO relations</a:t>
            </a:r>
            <a:endParaRPr sz="198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5"/>
          <p:cNvSpPr txBox="1">
            <a:spLocks noGrp="1"/>
          </p:cNvSpPr>
          <p:nvPr>
            <p:ph type="title"/>
          </p:nvPr>
        </p:nvSpPr>
        <p:spPr>
          <a:xfrm>
            <a:off x="360000" y="19374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nl-NL" sz="2480"/>
              <a:t>SULO-based SPHN schema contains a more robust semantic</a:t>
            </a:r>
            <a:endParaRPr sz="2480"/>
          </a:p>
        </p:txBody>
      </p:sp>
      <p:pic>
        <p:nvPicPr>
          <p:cNvPr id="289" name="Google Shape;28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049" y="1374240"/>
            <a:ext cx="4972324" cy="289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1925" y="761026"/>
            <a:ext cx="4300226" cy="43827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1" name="Google Shape;291;p35"/>
          <p:cNvCxnSpPr/>
          <p:nvPr/>
        </p:nvCxnSpPr>
        <p:spPr>
          <a:xfrm>
            <a:off x="760150" y="3087200"/>
            <a:ext cx="548100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2" name="Google Shape;292;p35"/>
          <p:cNvCxnSpPr/>
          <p:nvPr/>
        </p:nvCxnSpPr>
        <p:spPr>
          <a:xfrm>
            <a:off x="5320100" y="2321225"/>
            <a:ext cx="564000" cy="5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3" name="Google Shape;293;p35"/>
          <p:cNvCxnSpPr/>
          <p:nvPr/>
        </p:nvCxnSpPr>
        <p:spPr>
          <a:xfrm rot="10800000" flipH="1">
            <a:off x="760150" y="3201550"/>
            <a:ext cx="504300" cy="150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5"/>
          <p:cNvCxnSpPr/>
          <p:nvPr/>
        </p:nvCxnSpPr>
        <p:spPr>
          <a:xfrm rot="10800000" flipH="1">
            <a:off x="7688325" y="2323325"/>
            <a:ext cx="504300" cy="150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5"/>
          <p:cNvCxnSpPr/>
          <p:nvPr/>
        </p:nvCxnSpPr>
        <p:spPr>
          <a:xfrm>
            <a:off x="5320100" y="2444400"/>
            <a:ext cx="980700" cy="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6" name="Google Shape;296;p35"/>
          <p:cNvCxnSpPr/>
          <p:nvPr/>
        </p:nvCxnSpPr>
        <p:spPr>
          <a:xfrm>
            <a:off x="1167300" y="3576225"/>
            <a:ext cx="389700" cy="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" name="Google Shape;297;p35"/>
          <p:cNvCxnSpPr/>
          <p:nvPr/>
        </p:nvCxnSpPr>
        <p:spPr>
          <a:xfrm>
            <a:off x="423950" y="2967600"/>
            <a:ext cx="0" cy="63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8" name="Google Shape;298;p35"/>
          <p:cNvCxnSpPr/>
          <p:nvPr/>
        </p:nvCxnSpPr>
        <p:spPr>
          <a:xfrm rot="10800000" flipH="1">
            <a:off x="5282450" y="3952225"/>
            <a:ext cx="504300" cy="150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9" name="Google Shape;299;p35"/>
          <p:cNvCxnSpPr/>
          <p:nvPr/>
        </p:nvCxnSpPr>
        <p:spPr>
          <a:xfrm rot="10800000" flipH="1">
            <a:off x="6300800" y="4011100"/>
            <a:ext cx="504300" cy="1500"/>
          </a:xfrm>
          <a:prstGeom prst="straightConnector1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0" name="Google Shape;300;p35"/>
          <p:cNvCxnSpPr/>
          <p:nvPr/>
        </p:nvCxnSpPr>
        <p:spPr>
          <a:xfrm>
            <a:off x="1167300" y="3638728"/>
            <a:ext cx="404100" cy="0"/>
          </a:xfrm>
          <a:prstGeom prst="straightConnector1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1" name="Google Shape;301;p35"/>
          <p:cNvSpPr txBox="1"/>
          <p:nvPr/>
        </p:nvSpPr>
        <p:spPr>
          <a:xfrm>
            <a:off x="4296050" y="592069"/>
            <a:ext cx="4731000" cy="9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SPHN uses </a:t>
            </a:r>
            <a:r>
              <a:rPr lang="nl-NL" sz="1200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hasX (</a:t>
            </a:r>
            <a:r>
              <a:rPr lang="nl-N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and data) properties, which are brittle when the schema is refactored. A SULO-based formalisation ensures predicate semantics are put into classes, whose instances are connected with domain-independent relations.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SULO to BFO</a:t>
            </a:r>
            <a:endParaRPr/>
          </a:p>
        </p:txBody>
      </p:sp>
      <p:sp>
        <p:nvSpPr>
          <p:cNvPr id="308" name="Google Shape;308;p36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4047600" cy="374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SULO more compact than BFO in both classes and properties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They share a top level binary division of Process (Occurrent) and Object (Continuant)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SULO's Object corresponds to GDC + SDC + IC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SULO includes InformationEntities including Quantity, Collection and Time, while BFO doesn't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SULO has data property, BFO doesn't.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nl-NL" sz="1700"/>
              <a:t>BFO has spatial / temporal regions and boundaries, SULO doesn't.</a:t>
            </a:r>
            <a:endParaRPr sz="1700"/>
          </a:p>
        </p:txBody>
      </p:sp>
      <p:pic>
        <p:nvPicPr>
          <p:cNvPr id="309" name="Google Shape;30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8125" y="473806"/>
            <a:ext cx="1841209" cy="2054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49335" y="418150"/>
            <a:ext cx="2826835" cy="40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0300" y="709325"/>
            <a:ext cx="1772375" cy="273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76" y="29250"/>
            <a:ext cx="1621132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8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have the design goals been met?</a:t>
            </a:r>
            <a:endParaRPr/>
          </a:p>
        </p:txBody>
      </p:sp>
      <p:sp>
        <p:nvSpPr>
          <p:cNvPr id="324" name="Google Shape;324;p38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8326800" cy="33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Minimalism</a:t>
            </a:r>
            <a:r>
              <a:rPr lang="nl-NL" sz="1900"/>
              <a:t>: A</a:t>
            </a:r>
            <a:r>
              <a:rPr lang="nl-NL" sz="1900" u="sng"/>
              <a:t> small taxonomy of 17 classes and 19 relations</a:t>
            </a:r>
            <a:r>
              <a:rPr lang="nl-NL" sz="1900"/>
              <a:t>: smallest of ULOs, and compatibility with 2 biomedical ontology/schema.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Compatibility</a:t>
            </a:r>
            <a:r>
              <a:rPr lang="nl-NL" sz="1900"/>
              <a:t>: </a:t>
            </a:r>
            <a:r>
              <a:rPr lang="nl-NL" sz="1900" u="sng"/>
              <a:t>Conceptual and logical compatibility with core components of BFO</a:t>
            </a:r>
            <a:r>
              <a:rPr lang="nl-NL" sz="1900"/>
              <a:t> with key simplifications (no regions, consolidation of SDC &amp; GDCs into 1 class)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Accessibility</a:t>
            </a:r>
            <a:r>
              <a:rPr lang="nl-NL" sz="1900"/>
              <a:t>: Simpler labeling, simpler taxonomy, and </a:t>
            </a:r>
            <a:r>
              <a:rPr lang="nl-NL" sz="1900" u="sng"/>
              <a:t>fits in a single diagram</a:t>
            </a:r>
            <a:r>
              <a:rPr lang="nl-NL" sz="1900"/>
              <a:t> - user study being planned.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Composability</a:t>
            </a:r>
            <a:r>
              <a:rPr lang="nl-NL" sz="1900"/>
              <a:t>: </a:t>
            </a:r>
            <a:r>
              <a:rPr lang="nl-NL" sz="1900" u="sng"/>
              <a:t>Building blocks to construct complex, machine-readable class expressions.</a:t>
            </a:r>
            <a:endParaRPr sz="1900" u="sng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Interoperability</a:t>
            </a:r>
            <a:r>
              <a:rPr lang="nl-NL" sz="1900"/>
              <a:t>: </a:t>
            </a:r>
            <a:r>
              <a:rPr lang="nl-NL" sz="1900" u="sng"/>
              <a:t>Interoperability </a:t>
            </a:r>
            <a:r>
              <a:rPr lang="nl-NL" sz="1900"/>
              <a:t>through proposed to SULO axioms + SOLID and PRO </a:t>
            </a:r>
            <a:r>
              <a:rPr lang="nl-NL" sz="1900" u="sng"/>
              <a:t>design patterns</a:t>
            </a:r>
            <a:r>
              <a:rPr lang="nl-NL" sz="1900"/>
              <a:t> to reduce arbitrary relations and constrain the data graph.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nl-NL" sz="1900" b="1"/>
              <a:t>Data validation</a:t>
            </a:r>
            <a:r>
              <a:rPr lang="nl-NL" sz="1900"/>
              <a:t>: </a:t>
            </a:r>
            <a:r>
              <a:rPr lang="nl-NL" sz="1900" u="sng"/>
              <a:t>automated reasoning and (planned) schema validation</a:t>
            </a:r>
            <a:r>
              <a:rPr lang="nl-NL" sz="1900"/>
              <a:t>.</a:t>
            </a:r>
            <a:endParaRPr sz="35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5975" y="1096425"/>
            <a:ext cx="4868024" cy="2443551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41"/>
          <p:cNvSpPr txBox="1">
            <a:spLocks noGrp="1"/>
          </p:cNvSpPr>
          <p:nvPr>
            <p:ph type="title"/>
          </p:nvPr>
        </p:nvSpPr>
        <p:spPr>
          <a:xfrm>
            <a:off x="360000" y="310695"/>
            <a:ext cx="83268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/>
              <a:t>Summary</a:t>
            </a:r>
            <a:endParaRPr/>
          </a:p>
        </p:txBody>
      </p:sp>
      <p:sp>
        <p:nvSpPr>
          <p:cNvPr id="347" name="Google Shape;347;p41"/>
          <p:cNvSpPr txBox="1">
            <a:spLocks noGrp="1"/>
          </p:cNvSpPr>
          <p:nvPr>
            <p:ph type="body" idx="1"/>
          </p:nvPr>
        </p:nvSpPr>
        <p:spPr>
          <a:xfrm>
            <a:off x="360000" y="972000"/>
            <a:ext cx="4296000" cy="33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2800" b="1"/>
              <a:t>SULO takes a minimalistic approach to an ULO formulation that balances formal rigour with simplicity and practical usability. </a:t>
            </a:r>
            <a:endParaRPr sz="28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/>
          </a:p>
        </p:txBody>
      </p:sp>
      <p:sp>
        <p:nvSpPr>
          <p:cNvPr id="348" name="Google Shape;348;p41"/>
          <p:cNvSpPr txBox="1"/>
          <p:nvPr/>
        </p:nvSpPr>
        <p:spPr>
          <a:xfrm>
            <a:off x="2375500" y="4305900"/>
            <a:ext cx="65052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100"/>
              <a:t>This work supported by Horizon Europe Framework Program under Grant Agreement Nos. 101057062 (AIDAVA), 101112022 (iCare4CVD), 101095435 (REALM), 101057603 (RES-Q+), 101080875 (CMC), and the Spanish Research Agency Grant RYC2020-030190-I.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astricht University">
  <a:themeElements>
    <a:clrScheme name="UM">
      <a:dk1>
        <a:srgbClr val="001C3D"/>
      </a:dk1>
      <a:lt1>
        <a:srgbClr val="FFFFFF"/>
      </a:lt1>
      <a:dk2>
        <a:srgbClr val="00A2DB"/>
      </a:dk2>
      <a:lt2>
        <a:srgbClr val="FFFFFF"/>
      </a:lt2>
      <a:accent1>
        <a:srgbClr val="E84E10"/>
      </a:accent1>
      <a:accent2>
        <a:srgbClr val="00A2DB"/>
      </a:accent2>
      <a:accent3>
        <a:srgbClr val="001C3D"/>
      </a:accent3>
      <a:accent4>
        <a:srgbClr val="F3A687"/>
      </a:accent4>
      <a:accent5>
        <a:srgbClr val="7FD0ED"/>
      </a:accent5>
      <a:accent6>
        <a:srgbClr val="7F8D9E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hema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1234</Words>
  <Application>Microsoft Office PowerPoint</Application>
  <PresentationFormat>On-screen Show (16:9)</PresentationFormat>
  <Paragraphs>140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Maastricht University</vt:lpstr>
      <vt:lpstr>SULO – a simplified upper-level ontology</vt:lpstr>
      <vt:lpstr>Upper Level Ontologies</vt:lpstr>
      <vt:lpstr>Domain ontologies and schemas</vt:lpstr>
      <vt:lpstr>ULOs remain difficult to correctly apply</vt:lpstr>
      <vt:lpstr>Even experts in a particular ULO don't consistently use it in the same way</vt:lpstr>
      <vt:lpstr>SULO</vt:lpstr>
      <vt:lpstr>Design Criteria</vt:lpstr>
      <vt:lpstr>17 classes in SULO</vt:lpstr>
      <vt:lpstr>PowerPoint Presentation</vt:lpstr>
      <vt:lpstr>SULO Properties</vt:lpstr>
      <vt:lpstr>PowerPoint Presentation</vt:lpstr>
      <vt:lpstr>SULO in a postcard</vt:lpstr>
      <vt:lpstr>Ontology Design Patterns</vt:lpstr>
      <vt:lpstr>SOLID ODP</vt:lpstr>
      <vt:lpstr>PRO ODP</vt:lpstr>
      <vt:lpstr>PowerPoint Presentation</vt:lpstr>
      <vt:lpstr>SNOMED CT is a formalised domain ontology</vt:lpstr>
      <vt:lpstr>SNOMED axioms can be expressed with domain-independent SULO relations</vt:lpstr>
      <vt:lpstr>SULO-based SPHN schema contains a more robust semantic</vt:lpstr>
      <vt:lpstr>SULO to BFO</vt:lpstr>
      <vt:lpstr>PowerPoint Presentation</vt:lpstr>
      <vt:lpstr>have the design goals been met?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Michel Dumontier</cp:lastModifiedBy>
  <cp:revision>1</cp:revision>
  <dcterms:modified xsi:type="dcterms:W3CDTF">2026-05-09T09:42:47Z</dcterms:modified>
</cp:coreProperties>
</file>